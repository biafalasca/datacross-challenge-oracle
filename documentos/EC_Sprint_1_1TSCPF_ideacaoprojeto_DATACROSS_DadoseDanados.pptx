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embeddedFontLst>
    <p:embeddedFont>
      <p:font typeface="Space Grotesk Medium"/>
      <p:regular r:id="rId23"/>
      <p:bold r:id="rId24"/>
    </p:embeddedFont>
    <p:embeddedFont>
      <p:font typeface="Space Grotesk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B2UGSjwmYz7ZV4Ex8dIibOKdn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SpaceGroteskMedium-bold.fntdata"/><Relationship Id="rId23" Type="http://schemas.openxmlformats.org/officeDocument/2006/relationships/font" Target="fonts/SpaceGrotesk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paceGrotesk-bold.fntdata"/><Relationship Id="rId25" Type="http://schemas.openxmlformats.org/officeDocument/2006/relationships/font" Target="fonts/SpaceGrotesk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628a57f7_0_4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9628a57f7_0_4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9628a57f7_0_5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9628a57f7_0_5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9628a57f7_0_1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9628a57f7_0_1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9628a57f7_0_1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9628a57f7_0_1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9628a57f7_0_2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9628a57f7_0_2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9628a57f7_0_9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9628a57f7_0_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jp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31.png"/><Relationship Id="rId8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8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5.jpg"/><Relationship Id="rId4" Type="http://schemas.openxmlformats.org/officeDocument/2006/relationships/image" Target="../media/image51.png"/><Relationship Id="rId9" Type="http://schemas.openxmlformats.org/officeDocument/2006/relationships/image" Target="../media/image47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jpg"/><Relationship Id="rId4" Type="http://schemas.openxmlformats.org/officeDocument/2006/relationships/image" Target="../media/image43.png"/><Relationship Id="rId5" Type="http://schemas.openxmlformats.org/officeDocument/2006/relationships/image" Target="../media/image50.png"/><Relationship Id="rId6" Type="http://schemas.openxmlformats.org/officeDocument/2006/relationships/image" Target="../media/image41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7.jp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46.png"/><Relationship Id="rId7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354225" y="811650"/>
            <a:ext cx="434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27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145"/>
              <a:buFont typeface="Space Grotesk"/>
              <a:buNone/>
            </a:pPr>
            <a:r>
              <a:rPr b="1" i="0" lang="en-US" sz="414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54225" y="1604700"/>
            <a:ext cx="59292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924"/>
              <a:buFont typeface="Space Grotesk"/>
              <a:buNone/>
            </a:pPr>
            <a:r>
              <a:rPr b="0" i="0" lang="en-US" sz="1924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Plataforma Inteligente para rotatividade de leitos</a:t>
            </a:r>
            <a:endParaRPr b="0" i="0" sz="1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83023" y="3368425"/>
            <a:ext cx="188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85"/>
              <a:buFont typeface="Space Grotesk"/>
              <a:buNone/>
            </a:pPr>
            <a:r>
              <a:rPr b="1" i="0" lang="en-US" sz="88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Equipe:</a:t>
            </a:r>
            <a:r>
              <a:rPr b="0" i="0" lang="en-US" sz="942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Dados e Danados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83025" y="3560350"/>
            <a:ext cx="5435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85"/>
              <a:buFont typeface="Space Grotesk"/>
              <a:buNone/>
            </a:pPr>
            <a:r>
              <a:rPr b="1" i="0" lang="en-US" sz="88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Integrantes:</a:t>
            </a:r>
            <a:r>
              <a:rPr b="0" i="0" lang="en-US" sz="942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Beatriz Falasca (RM 570086), Maria Eduarda Rodrigues (RM 572951), </a:t>
            </a:r>
            <a:endParaRPr/>
          </a:p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b="0" i="0" lang="en-US" sz="942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Gabrielle Trindade (RM 569092), Felipe Lessa (RM 570626) e Gabriel Rodrigues (RM 568762)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83028" y="4631138"/>
            <a:ext cx="4343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42"/>
              <a:buFont typeface="Space Grotesk"/>
              <a:buNone/>
            </a:pPr>
            <a:r>
              <a:rPr b="0" i="0" lang="en-US" sz="942" u="none" cap="none" strike="noStrike">
                <a:solidFill>
                  <a:srgbClr val="E07A5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Projeto de Ideação — Oracle Next Education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392900" y="0"/>
            <a:ext cx="2864700" cy="52035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83023" y="3182725"/>
            <a:ext cx="188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85"/>
              <a:buFont typeface="Space Grotesk"/>
              <a:buNone/>
            </a:pPr>
            <a:r>
              <a:rPr b="1" lang="en-US" sz="885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Turma</a:t>
            </a:r>
            <a:r>
              <a:rPr b="1" i="0" lang="en-US" sz="88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r>
              <a:rPr b="0" i="0" lang="en-US" sz="942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 </a:t>
            </a: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1TSCPF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83025" y="1440449"/>
            <a:ext cx="4106400" cy="444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1125" y="1977400"/>
            <a:ext cx="2588250" cy="731525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6800" y="-145900"/>
            <a:ext cx="9308147" cy="52894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425573" y="319200"/>
            <a:ext cx="8001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rPr b="1" lang="en-US" sz="2436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 Sistema de Saúde Pública Enfrenta uma Crise de Eficiência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82700" y="1494825"/>
            <a:ext cx="8226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69"/>
              <a:buFont typeface="Space Grotesk"/>
              <a:buNone/>
            </a:pPr>
            <a:r>
              <a:rPr lang="en-US" sz="126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Só em São Paulo, a CROSS gerencia mais de 500 hospitais públicos e filantrópicos, e a superlotação é crônica em todos os turnos. A fila por leitos cresce enquanto </a:t>
            </a:r>
            <a:r>
              <a:rPr lang="en-US" sz="126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pacientes que já poderiam ter recebido alta ou sido transferidos permanecem internados aguardando exames, procedimentos ou simplesmente um destino adequado. </a:t>
            </a:r>
            <a:r>
              <a:rPr lang="en-US" sz="126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problema não é falta de infraestrutura é a ausência de inteligência no fluxo </a:t>
            </a:r>
            <a:r>
              <a:rPr lang="en-US" sz="126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regulatório</a:t>
            </a:r>
            <a:r>
              <a:rPr lang="en-US" sz="126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2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284" y="3414889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/>
          <p:nvPr/>
        </p:nvSpPr>
        <p:spPr>
          <a:xfrm>
            <a:off x="887608" y="3334871"/>
            <a:ext cx="356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87"/>
              <a:buFont typeface="Space Grotesk"/>
              <a:buNone/>
            </a:pPr>
            <a:r>
              <a:rPr b="1" lang="en-US" sz="987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Dados existem</a:t>
            </a: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— DATASUS, CNES, SIRESP — mas são pouco explorados em tempo real.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854" y="4034261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>
            <a:off x="887607" y="3938518"/>
            <a:ext cx="356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Space Grotesk"/>
              <a:buNone/>
            </a:pP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análise de prontuários ainda é feita de forma </a:t>
            </a:r>
            <a:r>
              <a:rPr b="1" lang="en-US" sz="987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manual e demorada</a:t>
            </a: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30943" y="3304120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5023838" y="3252718"/>
            <a:ext cx="35004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Space Grotesk"/>
              <a:buNone/>
            </a:pP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</a:t>
            </a:r>
            <a:r>
              <a:rPr b="1" lang="en-US" sz="987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CROSS</a:t>
            </a: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(Central de Regulação de Ofertas de Serviços de Saúde) precisa processar grandes volumes de dados simultaneamente.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3806" y="403426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/>
          <p:nvPr/>
        </p:nvSpPr>
        <p:spPr>
          <a:xfrm>
            <a:off x="5023838" y="3938518"/>
            <a:ext cx="3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Space Grotesk"/>
              <a:buNone/>
            </a:pP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Cada leito ocupado desnecessariamente é um </a:t>
            </a:r>
            <a:r>
              <a:rPr b="1" lang="en-US" sz="987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leito negado à um caso mais grave</a:t>
            </a: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04" y="271141"/>
            <a:ext cx="8897592" cy="4601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61" y="-465123"/>
            <a:ext cx="9144000" cy="53055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285750" y="428625"/>
            <a:ext cx="8572500" cy="8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rPr b="1" lang="en-US" sz="2436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Internações Prolongadas Custam Leitos, Dinheiro e Vidas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285750" y="1224801"/>
            <a:ext cx="8572500" cy="651600"/>
          </a:xfrm>
          <a:prstGeom prst="rect">
            <a:avLst/>
          </a:prstGeom>
          <a:solidFill>
            <a:srgbClr val="E07A5F">
              <a:alpha val="1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85750" y="1224801"/>
            <a:ext cx="28500" cy="6516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85750" y="1371062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136000" spcFirstLastPara="1" rIns="136000" wrap="square" tIns="102100">
            <a:spAutoFit/>
          </a:bodyPr>
          <a:lstStyle/>
          <a:p>
            <a:pPr indent="0" lvl="0" marL="0" marR="0" rtl="0" algn="l">
              <a:lnSpc>
                <a:spcPct val="1592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 demora na identificação de pacientes aptos para alta ou encaminhamento é o gargalo que paralisa o sistema.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937525" y="2273578"/>
            <a:ext cx="2781300" cy="28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900" y="244410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941812" y="2695896"/>
            <a:ext cx="2667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87"/>
              <a:buFont typeface="Space Grotesk"/>
              <a:buNone/>
            </a:pPr>
            <a:r>
              <a:rPr b="1" lang="en-US" sz="987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Baixa Rotatividade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37537" y="2901414"/>
            <a:ext cx="2667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834"/>
              <a:buFont typeface="Space Grotesk"/>
              <a:buNone/>
            </a:pPr>
            <a:r>
              <a:rPr lang="en-US" sz="834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Casos urgentes aguardam vagas que poderiam estar disponíveis se o fluxo fosse otimizado.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700988" y="2260216"/>
            <a:ext cx="2781291" cy="28575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1167" y="234418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/>
          <p:nvPr/>
        </p:nvSpPr>
        <p:spPr>
          <a:xfrm>
            <a:off x="4791167" y="2622694"/>
            <a:ext cx="2666991" cy="182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87"/>
              <a:buFont typeface="Space Grotesk"/>
              <a:buNone/>
            </a:pPr>
            <a:r>
              <a:rPr b="1" lang="en-US" sz="987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Custos Elevados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91166" y="2799569"/>
            <a:ext cx="266699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834"/>
              <a:buFont typeface="Space Grotesk"/>
              <a:buNone/>
            </a:pPr>
            <a:r>
              <a:rPr lang="en-US" sz="834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Cada dia de internação desnecessária representa custo direto e evitável ao sistema público.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1167" y="367110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4791178" y="3927850"/>
            <a:ext cx="39000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87"/>
              <a:buFont typeface="Space Grotesk"/>
              <a:buNone/>
            </a:pPr>
            <a:r>
              <a:rPr b="1" lang="en-US" sz="987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Riscos e complicações associados à internação prolongada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791167" y="4123537"/>
            <a:ext cx="3039294" cy="3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834"/>
              <a:buFont typeface="Space Grotesk"/>
              <a:buNone/>
            </a:pPr>
            <a:r>
              <a:rPr lang="en-US" sz="834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Infecções afetam especialmente pacientes com dispositivos invasivos em internações prolongadas.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937525" y="3542650"/>
            <a:ext cx="2781300" cy="28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9137" y="3673096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994674" y="3921206"/>
            <a:ext cx="26670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87"/>
              <a:buFont typeface="Space Grotesk"/>
              <a:buNone/>
            </a:pPr>
            <a:r>
              <a:rPr b="1" lang="en-US" sz="987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Sobrecarga da Regulação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986911" y="4138168"/>
            <a:ext cx="2667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834"/>
              <a:buFont typeface="Space Grotesk"/>
              <a:buNone/>
            </a:pPr>
            <a:r>
              <a:rPr lang="en-US" sz="834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Profissionais da CROSS precisam analisar manualmente prontuários para tomar decisões.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700988" y="3540933"/>
            <a:ext cx="3303529" cy="45719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8347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rPr b="1" lang="en-US" sz="2436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Quem Precisa Dessa Solução?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35844" y="1169612"/>
            <a:ext cx="3321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CROSS — Central de Regulação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035844" y="1458934"/>
            <a:ext cx="33219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Necessita identificar rapidamente pacientes aptos para encaminhamento e realização de exames.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177972"/>
            <a:ext cx="2857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5250656" y="1142253"/>
            <a:ext cx="3321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Gestores Hospitalares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250656" y="1431575"/>
            <a:ext cx="33219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Precisam melhorar a ocupação e aumentar a rotatividade dos leitos disponíveis.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50371"/>
            <a:ext cx="2857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1035844" y="2214652"/>
            <a:ext cx="3321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Profissionais de Regulação do SUS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035844" y="2503974"/>
            <a:ext cx="33219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Requerem apoio automatizado na leitura e triagem de prontuários médicos.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2250371"/>
            <a:ext cx="2857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5250656" y="2214652"/>
            <a:ext cx="3321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Equipes Médicas e Administrativas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250656" y="2503974"/>
            <a:ext cx="33219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Buscam agilidade no fluxo de internações, transferências e altas hospitalares.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71500" y="4034622"/>
            <a:ext cx="8001000" cy="90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71500" y="3992695"/>
            <a:ext cx="57300" cy="9000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71500" y="3959612"/>
            <a:ext cx="80010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125" lIns="340225" spcFirstLastPara="1" rIns="340225" wrap="square" tIns="255125">
            <a:spAutoFit/>
          </a:bodyPr>
          <a:lstStyle/>
          <a:p>
            <a:pPr indent="0" lvl="0" marL="0" marR="0" rtl="0" algn="l">
              <a:lnSpc>
                <a:spcPct val="1639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9"/>
              <a:buFont typeface="Space Grotesk"/>
              <a:buNone/>
            </a:pPr>
            <a:r>
              <a:rPr lang="en-US" sz="1159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Esses profissionais e os </a:t>
            </a:r>
            <a:r>
              <a:rPr b="1" lang="en-US" sz="1090">
                <a:solidFill>
                  <a:srgbClr val="E07A5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pacientes que dependem deles</a:t>
            </a:r>
            <a:r>
              <a:rPr lang="en-US" sz="1159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precisam de </a:t>
            </a:r>
            <a:r>
              <a:rPr b="1" lang="en-US" sz="1090">
                <a:solidFill>
                  <a:srgbClr val="E07A5F"/>
                </a:solidFill>
                <a:latin typeface="Space Grotesk"/>
                <a:ea typeface="Space Grotesk"/>
                <a:cs typeface="Space Grotesk"/>
                <a:sym typeface="Space Grotesk"/>
              </a:rPr>
              <a:t>agilidade, organização e apoio inteligente</a:t>
            </a:r>
            <a:r>
              <a:rPr lang="en-US" sz="1159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para tomar decisões que impactam diretamente a vida dos pacientes.</a:t>
            </a:r>
            <a:endParaRPr sz="115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338" y="1201762"/>
            <a:ext cx="272356" cy="21788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1035856" y="3154692"/>
            <a:ext cx="12258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Pacientes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035844" y="3418142"/>
            <a:ext cx="33219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2"/>
              <a:buFont typeface="Calibri"/>
              <a:buNone/>
            </a:pPr>
            <a:r>
              <a:t/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035844" y="3437727"/>
            <a:ext cx="63708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Agilização da desospitalização com redução dos riscos e complicações associados à exposição prolongada ao ambiente hospitalar.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154683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F3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628a57f7_0_44"/>
          <p:cNvSpPr txBox="1"/>
          <p:nvPr/>
        </p:nvSpPr>
        <p:spPr>
          <a:xfrm>
            <a:off x="1729950" y="2298329"/>
            <a:ext cx="56841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Sua solução para r</a:t>
            </a:r>
            <a:r>
              <a:rPr lang="en-US" sz="1800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edução da permanência hospitalar prolongada e otimização do fluxo regulatório entre os níveis de atenção do SUS.</a:t>
            </a:r>
            <a:endParaRPr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99" name="Google Shape;99;g3d9628a57f7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762" y="1038075"/>
            <a:ext cx="3264475" cy="92265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67046"/>
            <a:ext cx="9144000" cy="572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571500" y="227599"/>
            <a:ext cx="817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rPr b="1" lang="en-US" sz="2436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DataCross: </a:t>
            </a:r>
            <a:endParaRPr b="1" sz="2436">
              <a:solidFill>
                <a:srgbClr val="0D1B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t/>
            </a:r>
            <a:endParaRPr b="1" sz="2436">
              <a:solidFill>
                <a:srgbClr val="0D1B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71500" y="1170106"/>
            <a:ext cx="31551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159"/>
              <a:buFont typeface="Space Grotesk"/>
              <a:buNone/>
            </a:pPr>
            <a:r>
              <a:rPr lang="en-US" sz="115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</a:t>
            </a: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</a:t>
            </a:r>
            <a:r>
              <a:rPr lang="en-US" sz="115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é um sistema de apoio baseado em </a:t>
            </a: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Processamento de Linguagem Natural (PLN)</a:t>
            </a:r>
            <a:r>
              <a:rPr lang="en-US" sz="115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que lê prontuários médicos automaticamente e identifica pacientes com internação prolongada sem necessidade.</a:t>
            </a:r>
            <a:endParaRPr sz="115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155263" y="1087523"/>
            <a:ext cx="4417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97"/>
              <a:buFont typeface="Space Grotesk"/>
              <a:buNone/>
            </a:pPr>
            <a:r>
              <a:rPr b="1" lang="en-US" sz="1397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Funcionalidades Centrais</a:t>
            </a:r>
            <a:endParaRPr sz="139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5263" y="1585800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4512450" y="1557225"/>
            <a:ext cx="306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Space Grotesk"/>
              <a:buNone/>
            </a:pP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Leitura automatizada de prontuários via PLN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5263" y="1964419"/>
            <a:ext cx="191542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4489679" y="1935844"/>
            <a:ext cx="408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Space Grotesk"/>
              <a:buNone/>
            </a:pP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Identificação de pacientes aptos para transferencia/alta hospitalar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5263" y="2543062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4491019" y="2514487"/>
            <a:ext cx="408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Space Grotesk"/>
              <a:buNone/>
            </a:pP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Integração com o SIRESP e o sistema de disponibilidades hospitalares da CROSS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55263" y="3121706"/>
            <a:ext cx="1861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4484238" y="3093131"/>
            <a:ext cx="40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Space Grotesk"/>
              <a:buNone/>
            </a:pP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Sinalização automática de casos prioritários para a fila de regulação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55263" y="3700350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/>
          <p:nvPr/>
        </p:nvSpPr>
        <p:spPr>
          <a:xfrm>
            <a:off x="4512450" y="3671775"/>
            <a:ext cx="406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87"/>
              <a:buFont typeface="Space Grotesk"/>
              <a:buNone/>
            </a:pPr>
            <a:r>
              <a:rPr b="1" lang="en-US" sz="987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Validação humana obrigatória</a:t>
            </a:r>
            <a:r>
              <a:rPr lang="en-US" sz="105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antes de qualquer encaminhamento final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d9628a57f7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138" y="0"/>
            <a:ext cx="5287722" cy="5143500"/>
          </a:xfrm>
          <a:prstGeom prst="rect">
            <a:avLst/>
          </a:prstGeom>
          <a:noFill/>
          <a:ln cap="flat" cmpd="sng" w="9525">
            <a:solidFill>
              <a:srgbClr val="F0F7F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rPr b="1" lang="en-US" sz="2436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Como o DataCross Funciona: Fluxo em 6 Etapas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71500" y="1154413"/>
            <a:ext cx="314325" cy="31432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71500" y="1154413"/>
            <a:ext cx="314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0176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/>
          <p:nvPr/>
        </p:nvSpPr>
        <p:spPr>
          <a:xfrm>
            <a:off x="571500" y="1875932"/>
            <a:ext cx="2381241" cy="18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Leitura do Prontuário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71500" y="2135953"/>
            <a:ext cx="23812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834"/>
              <a:buFont typeface="Space Grotesk"/>
              <a:buNone/>
            </a:pPr>
            <a:r>
              <a:rPr lang="en-US" sz="834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PLN analisa automaticamente os dados clínicos do paciente em tempo real.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3381366" y="1154413"/>
            <a:ext cx="314325" cy="31432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381366" y="1154413"/>
            <a:ext cx="314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66" y="154017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3381366" y="1875932"/>
            <a:ext cx="2381241" cy="18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Identificação do Perfil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381366" y="2135953"/>
            <a:ext cx="23812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834"/>
              <a:buFont typeface="Space Grotesk"/>
              <a:buNone/>
            </a:pPr>
            <a:r>
              <a:rPr lang="en-US" sz="834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detecta perfil do paciente para decisão de encaminhamento.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191231" y="1154413"/>
            <a:ext cx="314325" cy="31432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191231" y="1154413"/>
            <a:ext cx="314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31" y="154017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6191231" y="1875932"/>
            <a:ext cx="2381269" cy="18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Sinalização na Fila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191231" y="2135953"/>
            <a:ext cx="238126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834"/>
              <a:buFont typeface="Space Grotesk"/>
              <a:buNone/>
            </a:pPr>
            <a:r>
              <a:rPr lang="en-US" sz="834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Caso é enviado automaticamente para a fila de regulação da CROSS.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71500" y="2621728"/>
            <a:ext cx="314325" cy="31432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71500" y="2621728"/>
            <a:ext cx="314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0749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571500" y="3343247"/>
            <a:ext cx="2381241" cy="18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Cruzamento de Disponibilidade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71500" y="3603268"/>
            <a:ext cx="23812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834"/>
              <a:buFont typeface="Space Grotesk"/>
              <a:buNone/>
            </a:pPr>
            <a:r>
              <a:rPr lang="en-US" sz="834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verifica unidades com oferta disponível via integração com SIRESP.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381366" y="2621728"/>
            <a:ext cx="314325" cy="31432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381366" y="2621728"/>
            <a:ext cx="314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81366" y="300749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/>
          <p:nvPr/>
        </p:nvSpPr>
        <p:spPr>
          <a:xfrm>
            <a:off x="3381366" y="3343247"/>
            <a:ext cx="2381241" cy="18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Validação Profissional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381366" y="3603268"/>
            <a:ext cx="238124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834"/>
              <a:buFont typeface="Space Grotesk"/>
              <a:buNone/>
            </a:pPr>
            <a:r>
              <a:rPr lang="en-US" sz="834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Regulador humano analisa os dados e confirma o encaminhamento sugerido.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191231" y="2621728"/>
            <a:ext cx="314325" cy="31432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191231" y="2621728"/>
            <a:ext cx="314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6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91231" y="300749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6191231" y="3343247"/>
            <a:ext cx="2381269" cy="18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Encaminhamento do Paciente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191231" y="3603268"/>
            <a:ext cx="238126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834"/>
              <a:buFont typeface="Space Grotesk"/>
              <a:buNone/>
            </a:pPr>
            <a:r>
              <a:rPr lang="en-US" sz="834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Agendamento realizado com agilidade e segurança para o exame necessário.</a:t>
            </a:r>
            <a:endParaRPr sz="8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Google Shape;1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1743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2"/>
          <p:cNvSpPr/>
          <p:nvPr/>
        </p:nvSpPr>
        <p:spPr>
          <a:xfrm>
            <a:off x="6286500" y="-1428750"/>
            <a:ext cx="4286250" cy="428625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8275">
            <a:solidFill>
              <a:srgbClr val="0D1B2A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rPr b="1" lang="en-US" sz="2436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Tecnologias e Integração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3007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2"/>
          <p:cNvSpPr/>
          <p:nvPr/>
        </p:nvSpPr>
        <p:spPr>
          <a:xfrm>
            <a:off x="964406" y="1297288"/>
            <a:ext cx="3393281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PLN (Processamento de Linguagem Natural)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964406" y="1556249"/>
            <a:ext cx="339328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Leitura e interpretação de prontuários em linguagem médica.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1333007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2"/>
          <p:cNvSpPr/>
          <p:nvPr/>
        </p:nvSpPr>
        <p:spPr>
          <a:xfrm>
            <a:off x="5179219" y="1297288"/>
            <a:ext cx="3393281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SIRESP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5179219" y="1556249"/>
            <a:ext cx="339328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Informatizado de Regulação do Estado de São Paulo — integração para verificação de vagas.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92043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2"/>
          <p:cNvSpPr/>
          <p:nvPr/>
        </p:nvSpPr>
        <p:spPr>
          <a:xfrm>
            <a:off x="964406" y="2156324"/>
            <a:ext cx="3393281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DATASUS / CNES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964406" y="2415285"/>
            <a:ext cx="339328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Bases de dados públicas do SUS para contexto e validação.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86313" y="2192043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2"/>
          <p:cNvSpPr/>
          <p:nvPr/>
        </p:nvSpPr>
        <p:spPr>
          <a:xfrm>
            <a:off x="5179219" y="2156324"/>
            <a:ext cx="3393281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Interface Web para Reguladores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179219" y="2415285"/>
            <a:ext cx="339328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Painel de visualização e validação de encaminhamentos.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051079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/>
          <p:nvPr/>
        </p:nvSpPr>
        <p:spPr>
          <a:xfrm>
            <a:off x="964406" y="3015360"/>
            <a:ext cx="3393281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Validação Humana Integrada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964406" y="3274321"/>
            <a:ext cx="339328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profissional tem controle total antes de qualquer ação.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71500" y="3945834"/>
            <a:ext cx="8001000" cy="942975"/>
          </a:xfrm>
          <a:prstGeom prst="rect">
            <a:avLst/>
          </a:prstGeom>
          <a:solidFill>
            <a:srgbClr val="0D1B2A">
              <a:alpha val="313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71500" y="3945834"/>
            <a:ext cx="42863" cy="942975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857250" y="4160146"/>
            <a:ext cx="7429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69"/>
              <a:buFont typeface="Space Grotesk"/>
              <a:buNone/>
            </a:pPr>
            <a:r>
              <a:rPr i="1" lang="en-US" sz="1269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"A solução é construída sobre </a:t>
            </a:r>
            <a:r>
              <a:rPr b="1" i="1" lang="en-US" sz="1193">
                <a:solidFill>
                  <a:srgbClr val="E07A5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infraestrutura já existente no SUS</a:t>
            </a:r>
            <a:r>
              <a:rPr i="1" lang="en-US" sz="1269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i="1" lang="en-US" sz="1269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sem necessidade de substituir sistemas, apenas potencializá-los."</a:t>
            </a:r>
            <a:endParaRPr sz="12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d9628a57f7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63" y="448563"/>
            <a:ext cx="8845673" cy="424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d9628a57f7_0_13"/>
          <p:cNvSpPr txBox="1"/>
          <p:nvPr/>
        </p:nvSpPr>
        <p:spPr>
          <a:xfrm>
            <a:off x="0" y="4743300"/>
            <a:ext cx="582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painel modelo: </a:t>
            </a:r>
            <a:r>
              <a:rPr lang="en-US"/>
              <a:t>https://datacrossdash-bn6drpmo.manus.space/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d9628a57f7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8350"/>
            <a:ext cx="8839200" cy="420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d9628a57f7_0_17"/>
          <p:cNvSpPr txBox="1"/>
          <p:nvPr/>
        </p:nvSpPr>
        <p:spPr>
          <a:xfrm>
            <a:off x="0" y="4743300"/>
            <a:ext cx="582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painel modelo: https://datacrossdash-bn6drpmo.manus.space/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d9628a57f7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16563"/>
            <a:ext cx="8839199" cy="431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d9628a57f7_0_21"/>
          <p:cNvSpPr txBox="1"/>
          <p:nvPr/>
        </p:nvSpPr>
        <p:spPr>
          <a:xfrm>
            <a:off x="0" y="4743300"/>
            <a:ext cx="582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painel modelo: https://datacrossdash-bn6drpmo.manus.space/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Google Shape;2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rPr b="1" lang="en-US" sz="2436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Antes e Depois: O Impacto Real do DataCross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635336" y="2190725"/>
            <a:ext cx="22461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A</a:t>
            </a:r>
            <a:r>
              <a:rPr lang="en-US" sz="1000"/>
              <a:t>ptos para transferencia/alta</a:t>
            </a:r>
            <a:endParaRPr sz="1000"/>
          </a:p>
        </p:txBody>
      </p:sp>
      <p:sp>
        <p:nvSpPr>
          <p:cNvPr id="213" name="Google Shape;213;p9"/>
          <p:cNvSpPr txBox="1"/>
          <p:nvPr/>
        </p:nvSpPr>
        <p:spPr>
          <a:xfrm>
            <a:off x="1966000" y="2391100"/>
            <a:ext cx="612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635323" y="3754316"/>
            <a:ext cx="27120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Risco de complicacoes hospitalares</a:t>
            </a:r>
            <a:endParaRPr sz="1000"/>
          </a:p>
        </p:txBody>
      </p:sp>
      <p:sp>
        <p:nvSpPr>
          <p:cNvPr id="215" name="Google Shape;215;p9"/>
          <p:cNvSpPr txBox="1"/>
          <p:nvPr/>
        </p:nvSpPr>
        <p:spPr>
          <a:xfrm>
            <a:off x="632693" y="1823300"/>
            <a:ext cx="22461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Análise de prontuários</a:t>
            </a:r>
            <a:endParaRPr sz="1000"/>
          </a:p>
        </p:txBody>
      </p:sp>
      <p:sp>
        <p:nvSpPr>
          <p:cNvPr id="216" name="Google Shape;216;p9"/>
          <p:cNvSpPr txBox="1"/>
          <p:nvPr/>
        </p:nvSpPr>
        <p:spPr>
          <a:xfrm>
            <a:off x="626216" y="2561982"/>
            <a:ext cx="22461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Ocupação de leitos</a:t>
            </a:r>
            <a:endParaRPr sz="1000"/>
          </a:p>
        </p:txBody>
      </p:sp>
      <p:sp>
        <p:nvSpPr>
          <p:cNvPr id="217" name="Google Shape;217;p9"/>
          <p:cNvSpPr txBox="1"/>
          <p:nvPr/>
        </p:nvSpPr>
        <p:spPr>
          <a:xfrm>
            <a:off x="626216" y="2972525"/>
            <a:ext cx="22461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Integração de dados</a:t>
            </a:r>
            <a:endParaRPr sz="1000"/>
          </a:p>
        </p:txBody>
      </p:sp>
      <p:sp>
        <p:nvSpPr>
          <p:cNvPr id="218" name="Google Shape;218;p9"/>
          <p:cNvSpPr txBox="1"/>
          <p:nvPr/>
        </p:nvSpPr>
        <p:spPr>
          <a:xfrm>
            <a:off x="626236" y="3354305"/>
            <a:ext cx="2246100" cy="29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Tomada de decisão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rPr b="1" lang="en-US" sz="2436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Impactos Esperados para o Sistema de Saúde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032"/>
            <a:ext cx="2381241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/>
          <p:nvPr/>
        </p:nvSpPr>
        <p:spPr>
          <a:xfrm>
            <a:off x="571500" y="1897363"/>
            <a:ext cx="2381241" cy="20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788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Maior Rotatividade de Leitos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71500" y="2373728"/>
            <a:ext cx="23811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Liberação mais rápida e eficiente para casos urgentes que necessitam de internação.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66" y="1533032"/>
            <a:ext cx="2381241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/>
          <p:nvPr/>
        </p:nvSpPr>
        <p:spPr>
          <a:xfrm>
            <a:off x="3381366" y="1897363"/>
            <a:ext cx="2381241" cy="408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788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Redução do Tempo de Internação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381366" y="2377390"/>
            <a:ext cx="2381241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Pacientes encaminhados com mais agilidade, evitando permanência desnecessária.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31" y="1533032"/>
            <a:ext cx="238126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6191225" y="1897375"/>
            <a:ext cx="22992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788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Queda no Risco de complicações hospitalares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191231" y="2419326"/>
            <a:ext cx="23814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Menos exposição hospitalar prolongada, protegendo a saúde e a vida do paciente.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77527"/>
            <a:ext cx="2381241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/>
          <p:nvPr/>
        </p:nvSpPr>
        <p:spPr>
          <a:xfrm>
            <a:off x="571500" y="3841859"/>
            <a:ext cx="2381241" cy="20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788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Decisões Mais Rápidas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71500" y="4117591"/>
            <a:ext cx="2381241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Reguladores atuam com apoio de dados em tempo real, aumentando a assertividade.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81366" y="3477527"/>
            <a:ext cx="2381241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3381366" y="3841859"/>
            <a:ext cx="2381241" cy="20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788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Melhor Distribuição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3381366" y="4117591"/>
            <a:ext cx="2381241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Cruzamento inteligente de pacientes com unidades que possuem oferta disponível.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91231" y="3477527"/>
            <a:ext cx="238126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6191231" y="3841859"/>
            <a:ext cx="2381269" cy="20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788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Otimização de Recursos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191231" y="4117591"/>
            <a:ext cx="2381269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Redução de custos públicos com internações evitáveis e melhor uso da infraestrutura.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571500" y="428625"/>
            <a:ext cx="8001000" cy="41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rPr b="1" lang="en-US" sz="2436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Benefícios para Cada Parte do Sistema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91748"/>
            <a:ext cx="35718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1071563" y="1297288"/>
            <a:ext cx="4043363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Paciente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071563" y="1534818"/>
            <a:ext cx="4043363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Alta mais rápida, menor risco de complicacoes hospitalares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02188"/>
            <a:ext cx="35718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1071563" y="2007729"/>
            <a:ext cx="4043363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CROSS / Regulação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071563" y="2245258"/>
            <a:ext cx="4043363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Processo automatizado, fila mais eficiente e decisões ágeis.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02651"/>
            <a:ext cx="35718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>
            <a:off x="1071563" y="2718169"/>
            <a:ext cx="4043363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Hospital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071563" y="2955699"/>
            <a:ext cx="4043363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Melhor uso da capacidade instalada e maior rotatividade de leitos.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03086"/>
            <a:ext cx="35718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/>
          <p:nvPr/>
        </p:nvSpPr>
        <p:spPr>
          <a:xfrm>
            <a:off x="1071563" y="3608626"/>
            <a:ext cx="4043363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Gestão Pública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071563" y="3846156"/>
            <a:ext cx="4043363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Redução de custos, dados estruturados para políticas de saúde.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3" name="Google Shape;26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13526"/>
            <a:ext cx="35718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/>
          <p:nvPr/>
        </p:nvSpPr>
        <p:spPr>
          <a:xfrm>
            <a:off x="1071563" y="4319067"/>
            <a:ext cx="4043363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90"/>
              <a:buFont typeface="Space Grotesk"/>
              <a:buNone/>
            </a:pPr>
            <a:r>
              <a:rPr b="1" lang="en-US" sz="109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Profissionais de Saúde</a:t>
            </a:r>
            <a:endParaRPr sz="10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071563" y="4556596"/>
            <a:ext cx="4043363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942"/>
              <a:buFont typeface="Space Grotesk"/>
              <a:buNone/>
            </a:pPr>
            <a:r>
              <a:rPr lang="en-US" sz="942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Menos carga operacional, foco total no cuidado ao paciente.</a:t>
            </a:r>
            <a:endParaRPr sz="94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543550" y="1297288"/>
            <a:ext cx="3028950" cy="3546481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543550" y="1297288"/>
            <a:ext cx="3028950" cy="5715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5829300" y="2270485"/>
            <a:ext cx="2457450" cy="16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7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4"/>
              <a:buFont typeface="Space Grotesk"/>
              <a:buNone/>
            </a:pPr>
            <a:r>
              <a:rPr lang="en-US" sz="1704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 DataCross transforma dados existentes do SUS em </a:t>
            </a:r>
            <a:r>
              <a:rPr b="1" lang="en-US" sz="1602">
                <a:solidFill>
                  <a:srgbClr val="E07A5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inteligência aplicada ao cuidado</a:t>
            </a:r>
            <a:r>
              <a:rPr lang="en-US" sz="1704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70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9628a57f7_0_9"/>
          <p:cNvSpPr/>
          <p:nvPr/>
        </p:nvSpPr>
        <p:spPr>
          <a:xfrm>
            <a:off x="571500" y="428625"/>
            <a:ext cx="8001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36"/>
              <a:buFont typeface="Space Grotesk"/>
              <a:buNone/>
            </a:pPr>
            <a:r>
              <a:rPr b="1" lang="en-US" sz="2436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Concorrência e posicionamento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d9628a57f7_0_9"/>
          <p:cNvSpPr txBox="1"/>
          <p:nvPr/>
        </p:nvSpPr>
        <p:spPr>
          <a:xfrm>
            <a:off x="571500" y="1263650"/>
            <a:ext cx="7161900" cy="20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5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DataCross não substitui sistemas existentes,</a:t>
            </a:r>
            <a:r>
              <a:rPr lang="en-US" sz="1300"/>
              <a:t> </a:t>
            </a:r>
            <a:r>
              <a:rPr b="1" lang="en-US" sz="1300">
                <a:solidFill>
                  <a:srgbClr val="E07A5F"/>
                </a:solidFill>
                <a:latin typeface="Space Grotesk"/>
                <a:ea typeface="Space Grotesk"/>
                <a:cs typeface="Space Grotesk"/>
                <a:sym typeface="Space Grotesk"/>
              </a:rPr>
              <a:t>ele potencializa.</a:t>
            </a:r>
            <a:endParaRPr sz="1300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5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Hoje, a regulação já é realizada via CROSS e SIRESP, porém com análise majoritariamente manual.</a:t>
            </a:r>
            <a:endParaRPr sz="1359">
              <a:solidFill>
                <a:srgbClr val="415A7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59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O DataCross atua como uma camada inteligente, utilizando esses mesmos dados para automatizar análises e apoiar decisões.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d9628a57f7_0_9"/>
          <p:cNvSpPr/>
          <p:nvPr/>
        </p:nvSpPr>
        <p:spPr>
          <a:xfrm>
            <a:off x="523275" y="3441609"/>
            <a:ext cx="8001000" cy="942900"/>
          </a:xfrm>
          <a:prstGeom prst="rect">
            <a:avLst/>
          </a:prstGeom>
          <a:solidFill>
            <a:srgbClr val="0D1B2A">
              <a:alpha val="314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d9628a57f7_0_9"/>
          <p:cNvSpPr/>
          <p:nvPr/>
        </p:nvSpPr>
        <p:spPr>
          <a:xfrm>
            <a:off x="523275" y="3441609"/>
            <a:ext cx="42900" cy="9429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d9628a57f7_0_9"/>
          <p:cNvSpPr/>
          <p:nvPr/>
        </p:nvSpPr>
        <p:spPr>
          <a:xfrm>
            <a:off x="809025" y="3655921"/>
            <a:ext cx="7429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69"/>
              <a:buFont typeface="Space Grotesk"/>
              <a:buNone/>
            </a:pPr>
            <a:r>
              <a:rPr i="1" lang="en-US" sz="1269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"</a:t>
            </a:r>
            <a:r>
              <a:rPr i="1" lang="en-US" sz="1269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Mais do que competir, o DataCross funciona como um braço estratégico da regulação, aumentando eficiência e velocidade do sistema.</a:t>
            </a:r>
            <a:r>
              <a:rPr i="1" lang="en-US" sz="1269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"</a:t>
            </a:r>
            <a:endParaRPr sz="12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d9628a57f7_0_9"/>
          <p:cNvSpPr/>
          <p:nvPr/>
        </p:nvSpPr>
        <p:spPr>
          <a:xfrm>
            <a:off x="571900" y="840224"/>
            <a:ext cx="4106400" cy="444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4" name="Google Shape;2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/>
          <p:nvPr/>
        </p:nvSpPr>
        <p:spPr>
          <a:xfrm>
            <a:off x="571500" y="714375"/>
            <a:ext cx="4029075" cy="1508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Space Grotesk"/>
              <a:buNone/>
            </a:pPr>
            <a:r>
              <a:rPr b="1" lang="en-US" sz="3294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 Conecta Dados e Salva Vidas</a:t>
            </a:r>
            <a:endParaRPr sz="329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71500" y="2608878"/>
            <a:ext cx="4029000" cy="19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2575" spcFirstLastPara="1" rIns="0" wrap="square" tIns="0">
            <a:spAutoFit/>
          </a:bodyPr>
          <a:lstStyle/>
          <a:p>
            <a:pPr indent="0" lvl="0" marL="0" marR="0" rtl="0" algn="l">
              <a:lnSpc>
                <a:spcPct val="1615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6"/>
              <a:buFont typeface="Space Grotesk"/>
              <a:buNone/>
            </a:pPr>
            <a:r>
              <a:rPr lang="en-US" sz="1486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"O DataCross conecta dados, tecnologia e saúde pública para melhorar a gestão hospitalar, reduzir desperdícios e salvar vidas por meio de decisões mais rápidas e inteligentes."</a:t>
            </a:r>
            <a:endParaRPr sz="148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571500" y="4394802"/>
            <a:ext cx="4029075" cy="59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3570"/>
              </a:lnSpc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602"/>
              <a:buFont typeface="Space Grotesk"/>
              <a:buNone/>
            </a:pPr>
            <a:r>
              <a:t/>
            </a:r>
            <a:endParaRPr sz="160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FFFFF">
              <a:alpha val="313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5029200" y="0"/>
            <a:ext cx="714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5457825" y="714375"/>
            <a:ext cx="3114675" cy="217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Space Grotesk"/>
              <a:buNone/>
            </a:pPr>
            <a:r>
              <a:rPr b="1" lang="en-US" sz="1193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RESUMO DA PROPOSTA</a:t>
            </a:r>
            <a:endParaRPr sz="119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1" name="Google Shape;2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7825" y="123229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3"/>
          <p:cNvSpPr/>
          <p:nvPr/>
        </p:nvSpPr>
        <p:spPr>
          <a:xfrm>
            <a:off x="5772150" y="1218009"/>
            <a:ext cx="2800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Space Grotesk"/>
              <a:buNone/>
            </a:pPr>
            <a:r>
              <a:rPr b="1" lang="en-US" sz="987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Problema real</a:t>
            </a:r>
            <a:r>
              <a:rPr lang="en-US" sz="10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com impacto direto em vidas e recursos públicos.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3" name="Google Shape;2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7825" y="1760934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5815013" y="1746647"/>
            <a:ext cx="275748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Space Grotesk"/>
              <a:buNone/>
            </a:pPr>
            <a:r>
              <a:rPr b="1" lang="en-US" sz="987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Solução viável</a:t>
            </a:r>
            <a:r>
              <a:rPr lang="en-US" sz="10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baseada em tecnologias acessíveis e integração com sistemas existentes.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5" name="Google Shape;29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57825" y="2489597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/>
          <p:nvPr/>
        </p:nvSpPr>
        <p:spPr>
          <a:xfrm>
            <a:off x="5815013" y="2475309"/>
            <a:ext cx="27574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Space Grotesk"/>
              <a:buNone/>
            </a:pPr>
            <a:r>
              <a:rPr lang="en-US" sz="10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Foco em </a:t>
            </a:r>
            <a:r>
              <a:rPr b="1" lang="en-US" sz="987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apoio ao profissional</a:t>
            </a:r>
            <a:r>
              <a:rPr lang="en-US" sz="10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não substituição.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7" name="Google Shape;29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57825" y="301823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/>
          <p:nvPr/>
        </p:nvSpPr>
        <p:spPr>
          <a:xfrm>
            <a:off x="5772150" y="3003947"/>
            <a:ext cx="2800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Space Grotesk"/>
              <a:buNone/>
            </a:pPr>
            <a:r>
              <a:rPr b="1" lang="en-US" sz="987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Potencial de escala</a:t>
            </a:r>
            <a:r>
              <a:rPr lang="en-US" sz="105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para todo o estado de São Paulo e além.</a:t>
            </a:r>
            <a:endParaRPr sz="98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2026-04-14T14:06:36Z</dcterms:created>
  <dc:creator>PptxGenJS</dc:creator>
</cp:coreProperties>
</file>