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4"/>
    <p:sldMasterId id="2147483663" r:id="rId5"/>
    <p:sldMasterId id="2147483664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y="5143500" cx="9144000"/>
  <p:notesSz cx="6858000" cy="9144000"/>
  <p:embeddedFontLst>
    <p:embeddedFont>
      <p:font typeface="Roboto Condensed"/>
      <p:regular r:id="rId23"/>
      <p:bold r:id="rId24"/>
      <p:italic r:id="rId25"/>
      <p:boldItalic r:id="rId26"/>
    </p:embeddedFont>
    <p:embeddedFont>
      <p:font typeface="Space Grotesk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font" Target="fonts/RobotoCondensed-bold.fntdata"/><Relationship Id="rId23" Type="http://schemas.openxmlformats.org/officeDocument/2006/relationships/font" Target="fonts/RobotoCondense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font" Target="fonts/RobotoCondensed-boldItalic.fntdata"/><Relationship Id="rId25" Type="http://schemas.openxmlformats.org/officeDocument/2006/relationships/font" Target="fonts/RobotoCondensed-italic.fntdata"/><Relationship Id="rId28" Type="http://schemas.openxmlformats.org/officeDocument/2006/relationships/font" Target="fonts/SpaceGrotesk-bold.fntdata"/><Relationship Id="rId27" Type="http://schemas.openxmlformats.org/officeDocument/2006/relationships/font" Target="fonts/SpaceGrotesk-regular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b4b427336_3_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" name="Google Shape;60;g3fb4b427336_3_2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g3fb4b427336_3_2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4b427336_3_1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g3fb4b427336_3_1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5" name="Google Shape;75;g3fb4b427336_3_1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b4b427336_3_3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fb4b427336_3_3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g3fb4b427336_3_3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b4b427336_3_6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3fb4b427336_3_6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" name="Google Shape;108;g3fb4b427336_3_6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b4b427336_3_30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fb4b427336_3_30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g3fb4b427336_3_30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b4b427336_3_31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fb4b427336_3_317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g3fb4b427336_3_317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b4b427336_3_32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3fb4b427336_3_32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g3fb4b427336_3_32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8d8782628_10_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g3f8d8782628_10_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f8d8782628_10_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f8d8782628_10_5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g3f8d8782628_10_5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3f8d8782628_10_5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fb4b427336_3_37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g3fb4b427336_3_37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1" name="Google Shape;281;g3fb4b427336_3_37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fb4b427336_3_40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g3fb4b427336_3_40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3" name="Google Shape;303;g3fb4b427336_3_40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fb4b427336_3_41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g3fb4b427336_3_41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9" name="Google Shape;319;g3fb4b427336_3_415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fb4b427336_3_45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g3fb4b427336_3_45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6" name="Google Shape;336;g3fb4b427336_3_45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fb4b427336_3_2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g3fb4b427336_3_2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7" name="Google Shape;347;g3fb4b427336_3_2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fb4b427336_3_43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g3fb4b427336_3_43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8" name="Google Shape;358;g3fb4b427336_3_43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TCROSS">
  <p:cSld name="DATCROSS">
    <p:bg>
      <p:bgPr>
        <a:solidFill>
          <a:srgbClr val="FFFFFF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datacross_logo.png" id="55" name="Google Shape;55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52410" y="123444"/>
            <a:ext cx="1014984" cy="432054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7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7" name="Google Shape;57;p17"/>
          <p:cNvSpPr txBox="1"/>
          <p:nvPr>
            <p:ph idx="12" type="sldNum"/>
          </p:nvPr>
        </p:nvSpPr>
        <p:spPr>
          <a:xfrm>
            <a:off x="8812530" y="4924044"/>
            <a:ext cx="171450" cy="1028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500" u="none" cap="none" strike="noStrike">
                <a:solidFill>
                  <a:srgbClr val="7B849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0" lvl="1" marL="0" marR="0" algn="r">
              <a:spcBef>
                <a:spcPts val="0"/>
              </a:spcBef>
              <a:buNone/>
              <a:defRPr b="0" i="0" sz="500" u="none" cap="none" strike="noStrike">
                <a:solidFill>
                  <a:srgbClr val="7B849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indent="0" lvl="2" marL="0" marR="0" algn="r">
              <a:spcBef>
                <a:spcPts val="0"/>
              </a:spcBef>
              <a:buNone/>
              <a:defRPr b="0" i="0" sz="500" u="none" cap="none" strike="noStrike">
                <a:solidFill>
                  <a:srgbClr val="7B849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indent="0" lvl="3" marL="0" marR="0" algn="r">
              <a:spcBef>
                <a:spcPts val="0"/>
              </a:spcBef>
              <a:buNone/>
              <a:defRPr b="0" i="0" sz="500" u="none" cap="none" strike="noStrike">
                <a:solidFill>
                  <a:srgbClr val="7B849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indent="0" lvl="4" marL="0" marR="0" algn="r">
              <a:spcBef>
                <a:spcPts val="0"/>
              </a:spcBef>
              <a:buNone/>
              <a:defRPr b="0" i="0" sz="500" u="none" cap="none" strike="noStrike">
                <a:solidFill>
                  <a:srgbClr val="7B849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indent="0" lvl="5" marL="0" marR="0" algn="r">
              <a:spcBef>
                <a:spcPts val="0"/>
              </a:spcBef>
              <a:buNone/>
              <a:defRPr b="0" i="0" sz="500" u="none" cap="none" strike="noStrike">
                <a:solidFill>
                  <a:srgbClr val="7B849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indent="0" lvl="6" marL="0" marR="0" algn="r">
              <a:spcBef>
                <a:spcPts val="0"/>
              </a:spcBef>
              <a:buNone/>
              <a:defRPr b="0" i="0" sz="500" u="none" cap="none" strike="noStrike">
                <a:solidFill>
                  <a:srgbClr val="7B849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indent="0" lvl="7" marL="0" marR="0" algn="r">
              <a:spcBef>
                <a:spcPts val="0"/>
              </a:spcBef>
              <a:buNone/>
              <a:defRPr b="0" i="0" sz="500" u="none" cap="none" strike="noStrike">
                <a:solidFill>
                  <a:srgbClr val="7B849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indent="0" lvl="8" marL="0" marR="0" algn="r">
              <a:spcBef>
                <a:spcPts val="0"/>
              </a:spcBef>
              <a:buNone/>
              <a:defRPr b="0" i="0" sz="500" u="none" cap="none" strike="noStrike">
                <a:solidFill>
                  <a:srgbClr val="7B849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4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image" Target="../media/image2.png"/><Relationship Id="rId6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gd08059524f2489-paineldados.adb.sa-saopaulo-1.oraclecloudapps.com/ords/r/datacross/datacross/home" TargetMode="External"/><Relationship Id="rId4" Type="http://schemas.openxmlformats.org/officeDocument/2006/relationships/image" Target="../media/image18.png"/><Relationship Id="rId5" Type="http://schemas.openxmlformats.org/officeDocument/2006/relationships/image" Target="../media/image7.png"/><Relationship Id="rId6" Type="http://schemas.openxmlformats.org/officeDocument/2006/relationships/image" Target="../media/image13.jpg"/><Relationship Id="rId7" Type="http://schemas.openxmlformats.org/officeDocument/2006/relationships/image" Target="../media/image1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8.png"/><Relationship Id="rId5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17.png"/><Relationship Id="rId5" Type="http://schemas.openxmlformats.org/officeDocument/2006/relationships/image" Target="../media/image15.png"/><Relationship Id="rId6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8"/>
          <p:cNvSpPr/>
          <p:nvPr/>
        </p:nvSpPr>
        <p:spPr>
          <a:xfrm>
            <a:off x="354225" y="477525"/>
            <a:ext cx="43434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627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4145"/>
              <a:buFont typeface="Space Grotesk"/>
              <a:buNone/>
            </a:pPr>
            <a:r>
              <a:rPr b="1" i="0" lang="pt-BR" sz="4545" u="none" cap="none" strike="noStrike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DataCross</a:t>
            </a:r>
            <a:endParaRPr b="0" i="0" sz="454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8"/>
          <p:cNvSpPr/>
          <p:nvPr/>
        </p:nvSpPr>
        <p:spPr>
          <a:xfrm>
            <a:off x="354225" y="1270575"/>
            <a:ext cx="59292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135"/>
              </a:lnSpc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1924"/>
              <a:buFont typeface="Space Grotesk"/>
              <a:buNone/>
            </a:pPr>
            <a:r>
              <a:rPr b="0" i="0" lang="pt-BR" sz="2324" u="none" cap="none" strike="noStrike">
                <a:solidFill>
                  <a:srgbClr val="415A77"/>
                </a:solidFill>
                <a:latin typeface="Space Grotesk"/>
                <a:ea typeface="Space Grotesk"/>
                <a:cs typeface="Space Grotesk"/>
                <a:sym typeface="Space Grotesk"/>
              </a:rPr>
              <a:t>Plataforma Inteligente para rotatividade de leitos</a:t>
            </a:r>
            <a:endParaRPr b="0" i="0" sz="23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8"/>
          <p:cNvSpPr/>
          <p:nvPr/>
        </p:nvSpPr>
        <p:spPr>
          <a:xfrm>
            <a:off x="383029" y="3591805"/>
            <a:ext cx="3351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85"/>
              <a:buFont typeface="Space Grotesk"/>
              <a:buNone/>
            </a:pPr>
            <a:r>
              <a:rPr b="1" i="0" lang="pt-BR" sz="985" u="none" cap="none" strike="noStrike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Equipe:</a:t>
            </a:r>
            <a:r>
              <a:rPr b="0" i="0" lang="pt-BR" sz="1042" u="none" cap="none" strike="noStrike">
                <a:solidFill>
                  <a:srgbClr val="415A77"/>
                </a:solidFill>
                <a:latin typeface="Space Grotesk"/>
                <a:ea typeface="Space Grotesk"/>
                <a:cs typeface="Space Grotesk"/>
                <a:sym typeface="Space Grotesk"/>
              </a:rPr>
              <a:t> Dados e Danados</a:t>
            </a:r>
            <a:endParaRPr b="0" i="0" sz="9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8"/>
          <p:cNvSpPr/>
          <p:nvPr/>
        </p:nvSpPr>
        <p:spPr>
          <a:xfrm>
            <a:off x="383027" y="3854275"/>
            <a:ext cx="56718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85"/>
              <a:buFont typeface="Space Grotesk"/>
              <a:buNone/>
            </a:pPr>
            <a:r>
              <a:rPr b="1" i="0" lang="pt-BR" sz="985" u="none" cap="none" strike="noStrike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Integrantes:</a:t>
            </a:r>
            <a:r>
              <a:rPr b="0" i="0" lang="pt-BR" sz="1042" u="none" cap="none" strike="noStrike">
                <a:solidFill>
                  <a:srgbClr val="415A77"/>
                </a:solidFill>
                <a:latin typeface="Space Grotesk"/>
                <a:ea typeface="Space Grotesk"/>
                <a:cs typeface="Space Grotesk"/>
                <a:sym typeface="Space Grotesk"/>
              </a:rPr>
              <a:t> Beatriz Falasca (RM 570086), Felipe Lessa (RM 570626), Gabriel Rodrigues (RM 568762), Gabrielle Trindade (RM 569092) e Maria Eduarda Rodrigues (RM 572951)</a:t>
            </a:r>
            <a:endParaRPr b="0" i="0" sz="9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8"/>
          <p:cNvSpPr/>
          <p:nvPr/>
        </p:nvSpPr>
        <p:spPr>
          <a:xfrm>
            <a:off x="383028" y="4631138"/>
            <a:ext cx="4343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7A5F"/>
              </a:buClr>
              <a:buSzPts val="1100"/>
              <a:buFont typeface="Calibri"/>
              <a:buNone/>
            </a:pPr>
            <a:r>
              <a:rPr b="0" i="1" lang="pt-BR" sz="1000" u="none" cap="none" strike="noStrike">
                <a:solidFill>
                  <a:srgbClr val="E07A5F"/>
                </a:solidFill>
                <a:latin typeface="Calibri"/>
                <a:ea typeface="Calibri"/>
                <a:cs typeface="Calibri"/>
                <a:sym typeface="Calibri"/>
              </a:rPr>
              <a:t>Challenge Oracle · FIAP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8"/>
          <p:cNvSpPr/>
          <p:nvPr/>
        </p:nvSpPr>
        <p:spPr>
          <a:xfrm>
            <a:off x="6392900" y="0"/>
            <a:ext cx="2864700" cy="520350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8"/>
          <p:cNvSpPr/>
          <p:nvPr/>
        </p:nvSpPr>
        <p:spPr>
          <a:xfrm>
            <a:off x="383025" y="3353200"/>
            <a:ext cx="19698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85"/>
              <a:buFont typeface="Space Grotesk"/>
              <a:buNone/>
            </a:pPr>
            <a:r>
              <a:rPr b="1" i="0" lang="pt-BR" sz="985" u="none" cap="none" strike="noStrike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Turma:</a:t>
            </a:r>
            <a:r>
              <a:rPr b="0" i="0" lang="pt-BR" sz="1042" u="none" cap="none" strike="noStrike">
                <a:solidFill>
                  <a:srgbClr val="415A77"/>
                </a:solidFill>
                <a:latin typeface="Space Grotesk"/>
                <a:ea typeface="Space Grotesk"/>
                <a:cs typeface="Space Grotesk"/>
                <a:sym typeface="Space Grotesk"/>
              </a:rPr>
              <a:t>  1TSCPF</a:t>
            </a:r>
            <a:endParaRPr b="0" i="0" sz="9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8"/>
          <p:cNvSpPr/>
          <p:nvPr/>
        </p:nvSpPr>
        <p:spPr>
          <a:xfrm>
            <a:off x="383025" y="1106324"/>
            <a:ext cx="4106400" cy="444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" name="Google Shape;7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31125" y="1967275"/>
            <a:ext cx="2588250" cy="731525"/>
          </a:xfrm>
          <a:prstGeom prst="rect">
            <a:avLst/>
          </a:prstGeom>
          <a:solidFill>
            <a:srgbClr val="0D1B2A"/>
          </a:solidFill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 txBox="1"/>
          <p:nvPr/>
        </p:nvSpPr>
        <p:spPr>
          <a:xfrm>
            <a:off x="355725" y="347475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Space Grotesk"/>
              <a:buNone/>
            </a:pPr>
            <a:r>
              <a:rPr b="1" i="0" lang="pt-BR" sz="2900" u="none" cap="none" strike="noStrike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DataCross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9"/>
          <p:cNvSpPr txBox="1"/>
          <p:nvPr/>
        </p:nvSpPr>
        <p:spPr>
          <a:xfrm>
            <a:off x="355725" y="745182"/>
            <a:ext cx="6126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1300"/>
              <a:buFont typeface="Calibri"/>
              <a:buNone/>
            </a:pPr>
            <a:r>
              <a:rPr b="0" i="1" lang="pt-BR" sz="1600" u="none" cap="none" strike="noStrike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Plataforma Inteligente para Rotatividade de Leitos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9"/>
          <p:cNvSpPr/>
          <p:nvPr/>
        </p:nvSpPr>
        <p:spPr>
          <a:xfrm>
            <a:off x="355725" y="1326375"/>
            <a:ext cx="7653300" cy="3381900"/>
          </a:xfrm>
          <a:prstGeom prst="roundRect">
            <a:avLst>
              <a:gd fmla="val 2581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DEDE7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9"/>
          <p:cNvSpPr txBox="1"/>
          <p:nvPr/>
        </p:nvSpPr>
        <p:spPr>
          <a:xfrm>
            <a:off x="528075" y="1521794"/>
            <a:ext cx="342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7A5F"/>
              </a:buClr>
              <a:buSzPts val="1050"/>
              <a:buFont typeface="Calibri"/>
              <a:buNone/>
            </a:pPr>
            <a:r>
              <a:rPr b="1" lang="pt-BR" sz="1700">
                <a:solidFill>
                  <a:srgbClr val="E07A5F"/>
                </a:solidFill>
                <a:latin typeface="Calibri"/>
                <a:ea typeface="Calibri"/>
                <a:cs typeface="Calibri"/>
                <a:sym typeface="Calibri"/>
              </a:rPr>
              <a:t>Nossa Proposta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9"/>
          <p:cNvSpPr txBox="1"/>
          <p:nvPr/>
        </p:nvSpPr>
        <p:spPr>
          <a:xfrm>
            <a:off x="574200" y="2006750"/>
            <a:ext cx="7171500" cy="28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7650" lvl="0" marL="2286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Arial"/>
              <a:buChar char="•"/>
            </a:pPr>
            <a:r>
              <a:rPr b="1" i="0" lang="pt-BR" sz="16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Sistema de apoio à decisão clínica (CDSS) </a:t>
            </a:r>
            <a:r>
              <a:rPr b="0" i="0" lang="pt-BR" sz="16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baseado em PLN, que lê prontuários e identifica pacientes aptos para alta ou transferência</a:t>
            </a:r>
            <a:endParaRPr b="0" i="0" sz="1600" u="none" cap="none" strike="noStrike">
              <a:solidFill>
                <a:srgbClr val="0D1B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286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Arial"/>
              <a:buChar char="•"/>
            </a:pPr>
            <a:r>
              <a:rPr b="1" i="0" lang="pt-BR" sz="16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Conectividade: </a:t>
            </a:r>
            <a:r>
              <a:rPr b="0" i="0" lang="pt-BR" sz="16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integra as bases já usadas pelo SUS</a:t>
            </a:r>
            <a:r>
              <a:rPr lang="pt-BR" sz="16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b="0" i="0" lang="pt-BR" sz="16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DATASUS, CNES, SIRESP e a CROSS)</a:t>
            </a:r>
            <a:endParaRPr b="0" i="0" sz="1600" u="none" cap="none" strike="noStrike">
              <a:solidFill>
                <a:srgbClr val="0D1B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286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Arial"/>
              <a:buChar char="•"/>
            </a:pPr>
            <a:r>
              <a:rPr b="1" i="0" lang="pt-BR" sz="16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IA sugere, profissional decide: </a:t>
            </a:r>
            <a:r>
              <a:rPr b="0" i="0" lang="pt-BR" sz="16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toda recomendação é validada por um profissional antes de qualquer movimentação</a:t>
            </a:r>
            <a:endParaRPr b="0" i="0" sz="1600" u="none" cap="none" strike="noStrike">
              <a:solidFill>
                <a:srgbClr val="0D1B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286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Arial"/>
              <a:buChar char="•"/>
            </a:pPr>
            <a:r>
              <a:rPr b="1" i="0" lang="pt-BR" sz="16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MVP focado em 3 patologias: </a:t>
            </a:r>
            <a:r>
              <a:rPr b="0" i="0" lang="pt-BR" sz="16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AVC, ITU e Pneumonia</a:t>
            </a:r>
            <a:endParaRPr b="0" i="0" sz="1600" u="none" cap="none" strike="noStrike">
              <a:solidFill>
                <a:srgbClr val="0D1B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9"/>
          <p:cNvSpPr txBox="1"/>
          <p:nvPr/>
        </p:nvSpPr>
        <p:spPr>
          <a:xfrm>
            <a:off x="8549640" y="482803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900"/>
              <a:buFont typeface="Calibri"/>
              <a:buNone/>
            </a:pPr>
            <a:r>
              <a:rPr b="0" i="0" lang="pt-BR" sz="900" u="none" cap="none" strike="noStrike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" name="Google Shape;8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21650" y="400325"/>
            <a:ext cx="1173600" cy="45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/>
        </p:nvSpPr>
        <p:spPr>
          <a:xfrm>
            <a:off x="457200" y="37650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Space Grotesk"/>
              <a:buNone/>
            </a:pPr>
            <a:r>
              <a:rPr b="1" i="0" lang="pt-BR" sz="2200" u="none" cap="none" strike="noStrike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Contextualização Atualizada do Desafio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20"/>
          <p:cNvSpPr/>
          <p:nvPr/>
        </p:nvSpPr>
        <p:spPr>
          <a:xfrm>
            <a:off x="457200" y="1252630"/>
            <a:ext cx="3931800" cy="1691700"/>
          </a:xfrm>
          <a:prstGeom prst="roundRect">
            <a:avLst>
              <a:gd fmla="val 3784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20"/>
          <p:cNvSpPr txBox="1"/>
          <p:nvPr/>
        </p:nvSpPr>
        <p:spPr>
          <a:xfrm>
            <a:off x="1106375" y="1459998"/>
            <a:ext cx="3063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50"/>
              <a:buFont typeface="Calibri"/>
              <a:buNone/>
            </a:pPr>
            <a:r>
              <a:rPr b="1" i="0" lang="pt-BR" sz="15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Cenário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0"/>
          <p:cNvSpPr txBox="1"/>
          <p:nvPr/>
        </p:nvSpPr>
        <p:spPr>
          <a:xfrm>
            <a:off x="650350" y="1978238"/>
            <a:ext cx="35994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1000"/>
              <a:buFont typeface="Calibri"/>
              <a:buNone/>
            </a:pPr>
            <a:r>
              <a:rPr b="0" i="0" lang="pt-BR" u="none" cap="none" strike="noStrike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CROSS </a:t>
            </a:r>
            <a:r>
              <a:rPr lang="pt-BR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gerência</a:t>
            </a:r>
            <a:r>
              <a:rPr b="0" i="0" lang="pt-BR" u="none" cap="none" strike="noStrike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 +500 hospitais em SP; filas crescem por permanência desnecessária de pacientes.</a:t>
            </a:r>
            <a:endParaRPr b="0" i="0" u="none" cap="none" strike="noStrike">
              <a:solidFill>
                <a:srgbClr val="5B6B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0"/>
          <p:cNvSpPr/>
          <p:nvPr/>
        </p:nvSpPr>
        <p:spPr>
          <a:xfrm>
            <a:off x="4663440" y="1252655"/>
            <a:ext cx="3931800" cy="1691700"/>
          </a:xfrm>
          <a:prstGeom prst="roundRect">
            <a:avLst>
              <a:gd fmla="val 3784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0"/>
          <p:cNvSpPr txBox="1"/>
          <p:nvPr/>
        </p:nvSpPr>
        <p:spPr>
          <a:xfrm>
            <a:off x="5282465" y="1460011"/>
            <a:ext cx="3063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50"/>
              <a:buFont typeface="Calibri"/>
              <a:buNone/>
            </a:pPr>
            <a:r>
              <a:rPr b="1" i="0" lang="pt-BR" sz="15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O problema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0"/>
          <p:cNvSpPr txBox="1"/>
          <p:nvPr/>
        </p:nvSpPr>
        <p:spPr>
          <a:xfrm>
            <a:off x="4864600" y="1870750"/>
            <a:ext cx="35112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1000"/>
              <a:buFont typeface="Calibri"/>
              <a:buNone/>
            </a:pPr>
            <a:r>
              <a:rPr b="0" i="0" lang="pt-BR" u="none" cap="none" strike="noStrike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Gargalo: análise de prontuários ainda manual e lenta</a:t>
            </a:r>
            <a:r>
              <a:rPr lang="pt-BR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pt-BR" u="none" cap="none" strike="noStrike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falta inteligência no fluxo, não infraestrutura.</a:t>
            </a:r>
            <a:endParaRPr>
              <a:solidFill>
                <a:srgbClr val="5B6B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0"/>
          <p:cNvSpPr/>
          <p:nvPr/>
        </p:nvSpPr>
        <p:spPr>
          <a:xfrm>
            <a:off x="2553075" y="3136375"/>
            <a:ext cx="3931800" cy="1691700"/>
          </a:xfrm>
          <a:prstGeom prst="roundRect">
            <a:avLst>
              <a:gd fmla="val 3784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0"/>
          <p:cNvSpPr txBox="1"/>
          <p:nvPr/>
        </p:nvSpPr>
        <p:spPr>
          <a:xfrm>
            <a:off x="3146325" y="3331806"/>
            <a:ext cx="3063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50"/>
              <a:buFont typeface="Calibri"/>
              <a:buNone/>
            </a:pPr>
            <a:r>
              <a:rPr b="1" i="0" lang="pt-BR" sz="15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Por que isso é grave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0"/>
          <p:cNvSpPr txBox="1"/>
          <p:nvPr/>
        </p:nvSpPr>
        <p:spPr>
          <a:xfrm>
            <a:off x="2772531" y="3767317"/>
            <a:ext cx="34929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1000"/>
              <a:buFont typeface="Calibri"/>
              <a:buNone/>
            </a:pPr>
            <a:r>
              <a:rPr b="0" i="0" lang="pt-BR" u="none" cap="none" strike="noStrike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Leito ocupado </a:t>
            </a:r>
            <a:r>
              <a:rPr lang="pt-BR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desnecessariamente</a:t>
            </a:r>
            <a:r>
              <a:rPr b="0" i="0" lang="pt-BR" u="none" cap="none" strike="noStrike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 = leito negado a caso grave, mais custo e mais risco de infecção.</a:t>
            </a:r>
            <a:endParaRPr b="0" i="0" u="none" cap="none" strike="noStrike">
              <a:solidFill>
                <a:srgbClr val="5B6B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0"/>
          <p:cNvSpPr txBox="1"/>
          <p:nvPr/>
        </p:nvSpPr>
        <p:spPr>
          <a:xfrm>
            <a:off x="8549640" y="4828032"/>
            <a:ext cx="457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900"/>
              <a:buFont typeface="Calibri"/>
              <a:buNone/>
            </a:pPr>
            <a:r>
              <a:rPr b="0" i="0" lang="pt-BR" sz="900" u="none" cap="none" strike="noStrike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pt-BR" sz="9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0"/>
          <p:cNvSpPr/>
          <p:nvPr/>
        </p:nvSpPr>
        <p:spPr>
          <a:xfrm>
            <a:off x="457200" y="834900"/>
            <a:ext cx="5401800" cy="444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1" name="Google Shape;10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350" y="1492025"/>
            <a:ext cx="400089" cy="256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2" name="Google Shape;10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82888" y="1491459"/>
            <a:ext cx="2857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3" name="Google Shape;10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46215" y="3345248"/>
            <a:ext cx="329775" cy="29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21650" y="400325"/>
            <a:ext cx="1173600" cy="45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/>
        </p:nvSpPr>
        <p:spPr>
          <a:xfrm>
            <a:off x="457200" y="422297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Space Grotesk"/>
              <a:buNone/>
            </a:pPr>
            <a:r>
              <a:rPr b="1" i="0" lang="pt-BR" sz="2600" u="none" cap="none" strike="noStrike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Objetivo Atual do Projeto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1"/>
          <p:cNvSpPr/>
          <p:nvPr/>
        </p:nvSpPr>
        <p:spPr>
          <a:xfrm>
            <a:off x="457200" y="1191324"/>
            <a:ext cx="8229600" cy="1051500"/>
          </a:xfrm>
          <a:prstGeom prst="roundRect">
            <a:avLst>
              <a:gd fmla="val 6957" name="adj"/>
            </a:avLst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1"/>
          <p:cNvSpPr txBox="1"/>
          <p:nvPr/>
        </p:nvSpPr>
        <p:spPr>
          <a:xfrm>
            <a:off x="685800" y="1289804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7A5F"/>
              </a:buClr>
              <a:buSzPts val="950"/>
              <a:buFont typeface="Calibri"/>
              <a:buNone/>
            </a:pPr>
            <a:r>
              <a:rPr b="1" i="0" lang="pt-BR" sz="1200" u="none" cap="none" strike="noStrike">
                <a:solidFill>
                  <a:srgbClr val="E07A5F"/>
                </a:solidFill>
                <a:latin typeface="Calibri"/>
                <a:ea typeface="Calibri"/>
                <a:cs typeface="Calibri"/>
                <a:sym typeface="Calibri"/>
              </a:rPr>
              <a:t>OBJETIVO GERAL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1"/>
          <p:cNvSpPr txBox="1"/>
          <p:nvPr/>
        </p:nvSpPr>
        <p:spPr>
          <a:xfrm>
            <a:off x="685800" y="1546553"/>
            <a:ext cx="77724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pt-BR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Reduzir internações desnecessárias e otimizar o fluxo de leitos do SUS, com IA lendo prontuários e validação humana sempre obrigatória.</a:t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1"/>
          <p:cNvSpPr txBox="1"/>
          <p:nvPr/>
        </p:nvSpPr>
        <p:spPr>
          <a:xfrm>
            <a:off x="457200" y="2551006"/>
            <a:ext cx="7772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7A5F"/>
              </a:buClr>
              <a:buSzPts val="1050"/>
              <a:buFont typeface="Calibri"/>
              <a:buNone/>
            </a:pPr>
            <a:r>
              <a:rPr b="1" i="0" lang="pt-BR" sz="1350" u="none" cap="none" strike="noStrike">
                <a:solidFill>
                  <a:srgbClr val="E07A5F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1"/>
          <p:cNvSpPr/>
          <p:nvPr/>
        </p:nvSpPr>
        <p:spPr>
          <a:xfrm>
            <a:off x="457200" y="2977349"/>
            <a:ext cx="255900" cy="255900"/>
          </a:xfrm>
          <a:prstGeom prst="ellipse">
            <a:avLst/>
          </a:prstGeom>
          <a:solidFill>
            <a:srgbClr val="FDED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1"/>
          <p:cNvSpPr txBox="1"/>
          <p:nvPr/>
        </p:nvSpPr>
        <p:spPr>
          <a:xfrm>
            <a:off x="457200" y="2971715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7A5F"/>
              </a:buClr>
              <a:buSzPts val="1000"/>
              <a:buFont typeface="Calibri"/>
              <a:buNone/>
            </a:pPr>
            <a:r>
              <a:rPr b="1" i="0" lang="pt-BR" sz="1300" u="none" cap="none" strike="noStrike">
                <a:solidFill>
                  <a:srgbClr val="E07A5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1"/>
          <p:cNvSpPr txBox="1"/>
          <p:nvPr/>
        </p:nvSpPr>
        <p:spPr>
          <a:xfrm>
            <a:off x="841248" y="2887947"/>
            <a:ext cx="781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80"/>
              <a:buFont typeface="Calibri"/>
              <a:buNone/>
            </a:pPr>
            <a:r>
              <a:rPr b="0" i="0" lang="pt-BR" sz="138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Automatizar a leitura de prontuários com PLN (para as patologias </a:t>
            </a:r>
            <a:r>
              <a:rPr lang="pt-BR" sz="138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mencionadas</a:t>
            </a:r>
            <a:r>
              <a:rPr b="0" i="0" lang="pt-BR" sz="138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: AVC, ITU e pneumonia).</a:t>
            </a:r>
            <a:endParaRPr b="0" i="0" sz="1380" u="none" cap="none" strike="noStrike">
              <a:solidFill>
                <a:srgbClr val="0D1B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1"/>
          <p:cNvSpPr/>
          <p:nvPr/>
        </p:nvSpPr>
        <p:spPr>
          <a:xfrm>
            <a:off x="457200" y="3517581"/>
            <a:ext cx="255900" cy="255900"/>
          </a:xfrm>
          <a:prstGeom prst="ellipse">
            <a:avLst/>
          </a:prstGeom>
          <a:solidFill>
            <a:srgbClr val="FDED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1"/>
          <p:cNvSpPr txBox="1"/>
          <p:nvPr/>
        </p:nvSpPr>
        <p:spPr>
          <a:xfrm>
            <a:off x="457200" y="3506313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7A5F"/>
              </a:buClr>
              <a:buSzPts val="1000"/>
              <a:buFont typeface="Calibri"/>
              <a:buNone/>
            </a:pPr>
            <a:r>
              <a:rPr b="1" i="0" lang="pt-BR" sz="1300" u="none" cap="none" strike="noStrike">
                <a:solidFill>
                  <a:srgbClr val="E07A5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1"/>
          <p:cNvSpPr txBox="1"/>
          <p:nvPr/>
        </p:nvSpPr>
        <p:spPr>
          <a:xfrm>
            <a:off x="841248" y="3422545"/>
            <a:ext cx="781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80"/>
              <a:buFont typeface="Calibri"/>
              <a:buNone/>
            </a:pPr>
            <a:r>
              <a:rPr b="0" i="0" lang="pt-BR" sz="138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Gerar score de elegibilidade auditável, com base em escalas clínicas reconhecidas.</a:t>
            </a:r>
            <a:endParaRPr b="0" i="0" sz="1380" u="none" cap="none" strike="noStrike">
              <a:solidFill>
                <a:srgbClr val="0D1B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1"/>
          <p:cNvSpPr/>
          <p:nvPr/>
        </p:nvSpPr>
        <p:spPr>
          <a:xfrm>
            <a:off x="457200" y="4024011"/>
            <a:ext cx="255900" cy="255900"/>
          </a:xfrm>
          <a:prstGeom prst="ellipse">
            <a:avLst/>
          </a:prstGeom>
          <a:solidFill>
            <a:srgbClr val="FDED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1"/>
          <p:cNvSpPr txBox="1"/>
          <p:nvPr/>
        </p:nvSpPr>
        <p:spPr>
          <a:xfrm>
            <a:off x="457200" y="4018377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7A5F"/>
              </a:buClr>
              <a:buSzPts val="1000"/>
              <a:buFont typeface="Calibri"/>
              <a:buNone/>
            </a:pPr>
            <a:r>
              <a:rPr b="1" i="0" lang="pt-BR" sz="1300" u="none" cap="none" strike="noStrike">
                <a:solidFill>
                  <a:srgbClr val="E07A5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1"/>
          <p:cNvSpPr txBox="1"/>
          <p:nvPr/>
        </p:nvSpPr>
        <p:spPr>
          <a:xfrm>
            <a:off x="841248" y="3912075"/>
            <a:ext cx="781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80"/>
              <a:buFont typeface="Calibri"/>
              <a:buNone/>
            </a:pPr>
            <a:r>
              <a:rPr b="0" i="0" lang="pt-BR" sz="138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Integrar ao fluxo já existente (SIRESP), sem substituir sistemas legados.</a:t>
            </a:r>
            <a:endParaRPr b="0" i="0" sz="1380" u="none" cap="none" strike="noStrike">
              <a:solidFill>
                <a:srgbClr val="0D1B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1"/>
          <p:cNvSpPr/>
          <p:nvPr/>
        </p:nvSpPr>
        <p:spPr>
          <a:xfrm>
            <a:off x="457200" y="4530441"/>
            <a:ext cx="255900" cy="255900"/>
          </a:xfrm>
          <a:prstGeom prst="ellipse">
            <a:avLst/>
          </a:prstGeom>
          <a:solidFill>
            <a:srgbClr val="FDED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1"/>
          <p:cNvSpPr txBox="1"/>
          <p:nvPr/>
        </p:nvSpPr>
        <p:spPr>
          <a:xfrm>
            <a:off x="457200" y="4519174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7A5F"/>
              </a:buClr>
              <a:buSzPts val="1000"/>
              <a:buFont typeface="Calibri"/>
              <a:buNone/>
            </a:pPr>
            <a:r>
              <a:rPr b="1" i="0" lang="pt-BR" sz="1300" u="none" cap="none" strike="noStrike">
                <a:solidFill>
                  <a:srgbClr val="E07A5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1"/>
          <p:cNvSpPr txBox="1"/>
          <p:nvPr/>
        </p:nvSpPr>
        <p:spPr>
          <a:xfrm>
            <a:off x="841248" y="4424139"/>
            <a:ext cx="781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80"/>
              <a:buFont typeface="Calibri"/>
              <a:buNone/>
            </a:pPr>
            <a:r>
              <a:rPr b="0" i="0" lang="pt-BR" sz="138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Aumentar a rotatividade de leitos e reduzir riscos de internação prolongada.</a:t>
            </a:r>
            <a:endParaRPr b="0" i="0" sz="1380" u="none" cap="none" strike="noStrike">
              <a:solidFill>
                <a:srgbClr val="0D1B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1"/>
          <p:cNvSpPr txBox="1"/>
          <p:nvPr/>
        </p:nvSpPr>
        <p:spPr>
          <a:xfrm>
            <a:off x="8549640" y="482803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900"/>
              <a:buFont typeface="Calibri"/>
              <a:buNone/>
            </a:pPr>
            <a:r>
              <a:rPr b="0" i="0" lang="pt-BR" sz="900" u="none" cap="none" strike="noStrike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pt-BR" sz="9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85775" y="382850"/>
            <a:ext cx="1173600" cy="45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/>
        </p:nvSpPr>
        <p:spPr>
          <a:xfrm>
            <a:off x="457200" y="48330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Space Grotesk"/>
              <a:buNone/>
            </a:pPr>
            <a:r>
              <a:rPr b="1" i="0" lang="pt-BR" sz="2700" u="none" cap="none" strike="noStrike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Proposta Atualizada da Solução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2"/>
          <p:cNvSpPr txBox="1"/>
          <p:nvPr/>
        </p:nvSpPr>
        <p:spPr>
          <a:xfrm>
            <a:off x="457200" y="1101773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7A5F"/>
              </a:buClr>
              <a:buSzPts val="1050"/>
              <a:buFont typeface="Calibri"/>
              <a:buNone/>
            </a:pPr>
            <a:r>
              <a:rPr b="1" i="0" lang="pt-BR" sz="1150" u="none" cap="none" strike="noStrike">
                <a:solidFill>
                  <a:srgbClr val="E07A5F"/>
                </a:solidFill>
                <a:latin typeface="Calibri"/>
                <a:ea typeface="Calibri"/>
                <a:cs typeface="Calibri"/>
                <a:sym typeface="Calibri"/>
              </a:rPr>
              <a:t>ABORDAGEM ADOTADA — DO AUTOMÁTICO AO ASSISTIDO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2"/>
          <p:cNvSpPr txBox="1"/>
          <p:nvPr/>
        </p:nvSpPr>
        <p:spPr>
          <a:xfrm>
            <a:off x="457200" y="1398954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4950" lvl="0" marL="2286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D1B2A"/>
              </a:buClr>
              <a:buSzPts val="1230"/>
              <a:buFont typeface="Arial"/>
              <a:buChar char="•"/>
            </a:pPr>
            <a:r>
              <a:rPr b="1" i="0" lang="pt-BR" sz="123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Evoluímos para um CDSS: </a:t>
            </a:r>
            <a:r>
              <a:rPr b="0" i="0" lang="pt-BR" sz="123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pt-BR" sz="123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pt-BR" sz="123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ideação</a:t>
            </a:r>
            <a:r>
              <a:rPr lang="pt-BR" sz="123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pt-BR" sz="123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 IA faz a triagem via PLN e entrega insights ao médico</a:t>
            </a:r>
            <a:endParaRPr b="0" i="0" sz="1230" u="none" cap="none" strike="noStrike">
              <a:solidFill>
                <a:srgbClr val="0D1B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2286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D1B2A"/>
              </a:buClr>
              <a:buSzPts val="1230"/>
              <a:buFont typeface="Arial"/>
              <a:buChar char="•"/>
            </a:pPr>
            <a:r>
              <a:rPr b="1" i="0" lang="pt-BR" sz="123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Registro manual no SIRESP </a:t>
            </a:r>
            <a:r>
              <a:rPr b="0" i="0" lang="pt-BR" sz="123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após validação humana, garantindo segurança ética</a:t>
            </a:r>
            <a:endParaRPr b="0" i="0" sz="1230" u="none" cap="none" strike="noStrike">
              <a:solidFill>
                <a:srgbClr val="0D1B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2286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D1B2A"/>
              </a:buClr>
              <a:buSzPts val="1230"/>
              <a:buFont typeface="Arial"/>
              <a:buChar char="•"/>
            </a:pPr>
            <a:r>
              <a:rPr b="1" i="0" lang="pt-BR" sz="123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Próxima fase: </a:t>
            </a:r>
            <a:r>
              <a:rPr b="0" i="0" lang="pt-BR" sz="123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integração direta via API com CROSS/SIRESP</a:t>
            </a:r>
            <a:endParaRPr b="0" i="0" sz="1230" u="none" cap="none" strike="noStrike">
              <a:solidFill>
                <a:srgbClr val="0D1B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2"/>
          <p:cNvSpPr/>
          <p:nvPr/>
        </p:nvSpPr>
        <p:spPr>
          <a:xfrm>
            <a:off x="457200" y="2670048"/>
            <a:ext cx="8229600" cy="1783080"/>
          </a:xfrm>
          <a:prstGeom prst="roundRect">
            <a:avLst>
              <a:gd fmla="val 3590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2"/>
          <p:cNvSpPr txBox="1"/>
          <p:nvPr/>
        </p:nvSpPr>
        <p:spPr>
          <a:xfrm>
            <a:off x="457200" y="2395753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7A5F"/>
              </a:buClr>
              <a:buSzPts val="1050"/>
              <a:buFont typeface="Calibri"/>
              <a:buNone/>
            </a:pPr>
            <a:r>
              <a:rPr b="1" i="0" lang="pt-BR" sz="1150" u="none" cap="none" strike="noStrike">
                <a:solidFill>
                  <a:srgbClr val="E07A5F"/>
                </a:solidFill>
                <a:latin typeface="Calibri"/>
                <a:ea typeface="Calibri"/>
                <a:cs typeface="Calibri"/>
                <a:sym typeface="Calibri"/>
              </a:rPr>
              <a:t>ARQUITETURA DA SOLUÇÃO APLICADA EM HOSPITAIS REAIS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architecture.png" id="139" name="Google Shape;13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163" y="2706013"/>
            <a:ext cx="7461676" cy="174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2"/>
          <p:cNvSpPr txBox="1"/>
          <p:nvPr/>
        </p:nvSpPr>
        <p:spPr>
          <a:xfrm>
            <a:off x="594360" y="4526280"/>
            <a:ext cx="7955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900"/>
              <a:buFont typeface="Calibri"/>
              <a:buNone/>
            </a:pPr>
            <a:r>
              <a:rPr b="0" i="1" lang="pt-BR" sz="900" u="none" cap="none" strike="noStrike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Fontes de dados: prontuário eletrônico dos hospitais, DATASUS/CNES e SIRESP.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2"/>
          <p:cNvSpPr txBox="1"/>
          <p:nvPr/>
        </p:nvSpPr>
        <p:spPr>
          <a:xfrm>
            <a:off x="8549640" y="482803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900"/>
              <a:buFont typeface="Calibri"/>
              <a:buNone/>
            </a:pPr>
            <a:r>
              <a:rPr b="0" i="0" lang="pt-BR" sz="900" u="none" cap="none" strike="noStrike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pt-BR" sz="9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85775" y="382850"/>
            <a:ext cx="1173600" cy="45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/>
        </p:nvSpPr>
        <p:spPr>
          <a:xfrm>
            <a:off x="376200" y="424875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Space Grotesk"/>
              <a:buNone/>
            </a:pPr>
            <a:r>
              <a:rPr b="1" i="0" lang="pt-BR" sz="2800" u="none" cap="none" strike="noStrike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Proposta Atualizada da Solução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3"/>
          <p:cNvSpPr txBox="1"/>
          <p:nvPr/>
        </p:nvSpPr>
        <p:spPr>
          <a:xfrm>
            <a:off x="416700" y="1095948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7A5F"/>
              </a:buClr>
              <a:buSzPts val="1050"/>
              <a:buFont typeface="Calibri"/>
              <a:buNone/>
            </a:pPr>
            <a:r>
              <a:rPr b="1" i="0" lang="pt-BR" sz="1250" u="none" cap="none" strike="noStrike">
                <a:solidFill>
                  <a:srgbClr val="E07A5F"/>
                </a:solidFill>
                <a:latin typeface="Calibri"/>
                <a:ea typeface="Calibri"/>
                <a:cs typeface="Calibri"/>
                <a:sym typeface="Calibri"/>
              </a:rPr>
              <a:t>ABORDAGEM ADOTADA PARA A REALIZAÇÃO DO PROJETO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3"/>
          <p:cNvSpPr txBox="1"/>
          <p:nvPr/>
        </p:nvSpPr>
        <p:spPr>
          <a:xfrm>
            <a:off x="457200" y="1501178"/>
            <a:ext cx="8229600" cy="10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7650" lvl="0" marL="2286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D1B2A"/>
              </a:buClr>
              <a:buSzPts val="1500"/>
              <a:buFont typeface="Arial"/>
              <a:buChar char="•"/>
            </a:pPr>
            <a:r>
              <a:rPr b="0" i="0" lang="pt-BR" sz="15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Dados sensíveis: usamos dados fictícios já tratados (pulando as etapas iniciais)</a:t>
            </a:r>
            <a:endParaRPr b="0" i="0" sz="1500" u="none" cap="none" strike="noStrike">
              <a:solidFill>
                <a:srgbClr val="0D1B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286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D1B2A"/>
              </a:buClr>
              <a:buSzPts val="1500"/>
              <a:buFont typeface="Arial"/>
              <a:buChar char="•"/>
            </a:pPr>
            <a:r>
              <a:rPr b="0" i="0" lang="pt-BR" sz="15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 partir da preparação dos prontuários, o fluxo seguiu exatamente a arquitetura completa (via Autonomous Database)</a:t>
            </a:r>
            <a:endParaRPr b="0" i="0" sz="1500" u="none" cap="none" strike="noStrike">
              <a:solidFill>
                <a:srgbClr val="0D1B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3"/>
          <p:cNvSpPr txBox="1"/>
          <p:nvPr/>
        </p:nvSpPr>
        <p:spPr>
          <a:xfrm>
            <a:off x="8549640" y="4828032"/>
            <a:ext cx="457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900"/>
              <a:buFont typeface="Calibri"/>
              <a:buNone/>
            </a:pPr>
            <a:r>
              <a:rPr lang="pt-BR" sz="9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9650" y="2765016"/>
            <a:ext cx="5552015" cy="2195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85775" y="382850"/>
            <a:ext cx="1173600" cy="45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/>
          <p:nvPr/>
        </p:nvSpPr>
        <p:spPr>
          <a:xfrm>
            <a:off x="452638" y="43480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Space Grotesk"/>
              <a:buNone/>
            </a:pPr>
            <a:r>
              <a:rPr b="1" i="0" lang="pt-BR" sz="2600" u="none" cap="none" strike="noStrike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Tecnologias, Análises e Indicadores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4"/>
          <p:cNvSpPr/>
          <p:nvPr/>
        </p:nvSpPr>
        <p:spPr>
          <a:xfrm>
            <a:off x="457200" y="1298448"/>
            <a:ext cx="1956816" cy="896112"/>
          </a:xfrm>
          <a:prstGeom prst="roundRect">
            <a:avLst>
              <a:gd fmla="val 6122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4"/>
          <p:cNvSpPr/>
          <p:nvPr/>
        </p:nvSpPr>
        <p:spPr>
          <a:xfrm>
            <a:off x="585216" y="1417320"/>
            <a:ext cx="310896" cy="54864"/>
          </a:xfrm>
          <a:prstGeom prst="roundRect">
            <a:avLst>
              <a:gd fmla="val 16667" name="adj"/>
            </a:avLst>
          </a:pr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4"/>
          <p:cNvSpPr txBox="1"/>
          <p:nvPr/>
        </p:nvSpPr>
        <p:spPr>
          <a:xfrm>
            <a:off x="585216" y="1517904"/>
            <a:ext cx="17007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30"/>
              <a:buFont typeface="Calibri"/>
              <a:buNone/>
            </a:pPr>
            <a:r>
              <a:rPr b="1" i="0" lang="pt-BR" sz="103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Oracle FHIR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4"/>
          <p:cNvSpPr txBox="1"/>
          <p:nvPr/>
        </p:nvSpPr>
        <p:spPr>
          <a:xfrm>
            <a:off x="585216" y="1713186"/>
            <a:ext cx="1700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770"/>
              <a:buFont typeface="Calibri"/>
              <a:buNone/>
            </a:pPr>
            <a:r>
              <a:rPr b="0" i="0" lang="pt-BR" sz="800" u="none" cap="none" strike="noStrike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Ponte de interoperabilidade que traduz os dados do Tasy para um formato universal.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4"/>
          <p:cNvSpPr/>
          <p:nvPr/>
        </p:nvSpPr>
        <p:spPr>
          <a:xfrm>
            <a:off x="2542032" y="1298448"/>
            <a:ext cx="1956816" cy="896112"/>
          </a:xfrm>
          <a:prstGeom prst="roundRect">
            <a:avLst>
              <a:gd fmla="val 6122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4"/>
          <p:cNvSpPr/>
          <p:nvPr/>
        </p:nvSpPr>
        <p:spPr>
          <a:xfrm>
            <a:off x="2670048" y="1417320"/>
            <a:ext cx="310896" cy="54864"/>
          </a:xfrm>
          <a:prstGeom prst="roundRect">
            <a:avLst>
              <a:gd fmla="val 16667" name="adj"/>
            </a:avLst>
          </a:pr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4"/>
          <p:cNvSpPr txBox="1"/>
          <p:nvPr/>
        </p:nvSpPr>
        <p:spPr>
          <a:xfrm>
            <a:off x="2670048" y="1517904"/>
            <a:ext cx="17007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30"/>
              <a:buFont typeface="Calibri"/>
              <a:buNone/>
            </a:pPr>
            <a:r>
              <a:rPr b="1" i="0" lang="pt-BR" sz="103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OCI Functions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4"/>
          <p:cNvSpPr txBox="1"/>
          <p:nvPr/>
        </p:nvSpPr>
        <p:spPr>
          <a:xfrm>
            <a:off x="2670048" y="1723311"/>
            <a:ext cx="1700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770"/>
              <a:buFont typeface="Calibri"/>
              <a:buNone/>
            </a:pPr>
            <a:r>
              <a:rPr b="0" i="0" lang="pt-BR" sz="800" u="none" cap="none" strike="noStrike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Funções serverless que extraem os dados em lote e disparam o processamento.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4"/>
          <p:cNvSpPr/>
          <p:nvPr/>
        </p:nvSpPr>
        <p:spPr>
          <a:xfrm>
            <a:off x="4626864" y="1298448"/>
            <a:ext cx="1956816" cy="896112"/>
          </a:xfrm>
          <a:prstGeom prst="roundRect">
            <a:avLst>
              <a:gd fmla="val 6122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4"/>
          <p:cNvSpPr/>
          <p:nvPr/>
        </p:nvSpPr>
        <p:spPr>
          <a:xfrm>
            <a:off x="4754880" y="1417320"/>
            <a:ext cx="310896" cy="54864"/>
          </a:xfrm>
          <a:prstGeom prst="roundRect">
            <a:avLst>
              <a:gd fmla="val 16667" name="adj"/>
            </a:avLst>
          </a:pr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4"/>
          <p:cNvSpPr txBox="1"/>
          <p:nvPr/>
        </p:nvSpPr>
        <p:spPr>
          <a:xfrm>
            <a:off x="4754880" y="1517904"/>
            <a:ext cx="17007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30"/>
              <a:buFont typeface="Calibri"/>
              <a:buNone/>
            </a:pPr>
            <a:r>
              <a:rPr b="1" i="0" lang="pt-BR" sz="103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Object Storage Oracle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4"/>
          <p:cNvSpPr txBox="1"/>
          <p:nvPr/>
        </p:nvSpPr>
        <p:spPr>
          <a:xfrm>
            <a:off x="4754880" y="1773936"/>
            <a:ext cx="17007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770"/>
              <a:buFont typeface="Calibri"/>
              <a:buNone/>
            </a:pPr>
            <a:r>
              <a:rPr b="0" i="0" lang="pt-BR" sz="800" u="none" cap="none" strike="noStrike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Repositório intermediário do JSON bruto, tolerante a falhas de rede.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4"/>
          <p:cNvSpPr/>
          <p:nvPr/>
        </p:nvSpPr>
        <p:spPr>
          <a:xfrm>
            <a:off x="6711696" y="1298448"/>
            <a:ext cx="1956816" cy="896112"/>
          </a:xfrm>
          <a:prstGeom prst="roundRect">
            <a:avLst>
              <a:gd fmla="val 6122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4"/>
          <p:cNvSpPr/>
          <p:nvPr/>
        </p:nvSpPr>
        <p:spPr>
          <a:xfrm>
            <a:off x="6839712" y="1417320"/>
            <a:ext cx="310896" cy="54864"/>
          </a:xfrm>
          <a:prstGeom prst="roundRect">
            <a:avLst>
              <a:gd fmla="val 16667" name="adj"/>
            </a:avLst>
          </a:pr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4"/>
          <p:cNvSpPr txBox="1"/>
          <p:nvPr/>
        </p:nvSpPr>
        <p:spPr>
          <a:xfrm>
            <a:off x="6839712" y="1517904"/>
            <a:ext cx="17007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30"/>
              <a:buFont typeface="Calibri"/>
              <a:buNone/>
            </a:pPr>
            <a:r>
              <a:rPr b="1" i="0" lang="pt-BR" sz="103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OCI Language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4"/>
          <p:cNvSpPr txBox="1"/>
          <p:nvPr/>
        </p:nvSpPr>
        <p:spPr>
          <a:xfrm>
            <a:off x="6839712" y="1773936"/>
            <a:ext cx="1700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770"/>
              <a:buFont typeface="Calibri"/>
              <a:buNone/>
            </a:pPr>
            <a:r>
              <a:rPr b="0" i="0" lang="pt-BR" sz="800" u="none" cap="none" strike="noStrike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Serviço de PLN da Oracle que lê o texto clínico e extrai entidades diagnósticas.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4"/>
          <p:cNvSpPr/>
          <p:nvPr/>
        </p:nvSpPr>
        <p:spPr>
          <a:xfrm>
            <a:off x="1510200" y="2304288"/>
            <a:ext cx="1956900" cy="896100"/>
          </a:xfrm>
          <a:prstGeom prst="roundRect">
            <a:avLst>
              <a:gd fmla="val 6122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4"/>
          <p:cNvSpPr/>
          <p:nvPr/>
        </p:nvSpPr>
        <p:spPr>
          <a:xfrm>
            <a:off x="1688841" y="2423160"/>
            <a:ext cx="310800" cy="54900"/>
          </a:xfrm>
          <a:prstGeom prst="roundRect">
            <a:avLst>
              <a:gd fmla="val 16667" name="adj"/>
            </a:avLst>
          </a:pr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4"/>
          <p:cNvSpPr txBox="1"/>
          <p:nvPr/>
        </p:nvSpPr>
        <p:spPr>
          <a:xfrm>
            <a:off x="1648341" y="2523744"/>
            <a:ext cx="1700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30"/>
              <a:buFont typeface="Calibri"/>
              <a:buNone/>
            </a:pPr>
            <a:r>
              <a:rPr b="1" i="0" lang="pt-BR" sz="103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Oracle Autonomous DB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4"/>
          <p:cNvSpPr txBox="1"/>
          <p:nvPr/>
        </p:nvSpPr>
        <p:spPr>
          <a:xfrm>
            <a:off x="1658466" y="2739276"/>
            <a:ext cx="1700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770"/>
              <a:buFont typeface="Calibri"/>
              <a:buNone/>
            </a:pPr>
            <a:r>
              <a:rPr b="0" i="0" lang="pt-BR" sz="800" u="none" cap="none" strike="noStrike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Repositório central: une dados relacionais e não estruturados em um único engine.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4"/>
          <p:cNvSpPr/>
          <p:nvPr/>
        </p:nvSpPr>
        <p:spPr>
          <a:xfrm>
            <a:off x="3584907" y="2304288"/>
            <a:ext cx="1956900" cy="896100"/>
          </a:xfrm>
          <a:prstGeom prst="roundRect">
            <a:avLst>
              <a:gd fmla="val 6122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4"/>
          <p:cNvSpPr/>
          <p:nvPr/>
        </p:nvSpPr>
        <p:spPr>
          <a:xfrm>
            <a:off x="3783798" y="2423160"/>
            <a:ext cx="310800" cy="54900"/>
          </a:xfrm>
          <a:prstGeom prst="roundRect">
            <a:avLst>
              <a:gd fmla="val 16667" name="adj"/>
            </a:avLst>
          </a:pr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4"/>
          <p:cNvSpPr txBox="1"/>
          <p:nvPr/>
        </p:nvSpPr>
        <p:spPr>
          <a:xfrm>
            <a:off x="3723048" y="2513619"/>
            <a:ext cx="1700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30"/>
              <a:buFont typeface="Calibri"/>
              <a:buNone/>
            </a:pPr>
            <a:r>
              <a:rPr b="1" i="0" lang="pt-BR" sz="103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Oracle APEX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4"/>
          <p:cNvSpPr txBox="1"/>
          <p:nvPr/>
        </p:nvSpPr>
        <p:spPr>
          <a:xfrm>
            <a:off x="3723048" y="2708901"/>
            <a:ext cx="1700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770"/>
              <a:buFont typeface="Calibri"/>
              <a:buNone/>
            </a:pPr>
            <a:r>
              <a:rPr b="0" i="0" lang="pt-BR" sz="800" u="none" cap="none" strike="noStrike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Interface web low-code usada pelo médico regulador para validar as sugestões.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4"/>
          <p:cNvSpPr/>
          <p:nvPr/>
        </p:nvSpPr>
        <p:spPr>
          <a:xfrm>
            <a:off x="5669739" y="2304288"/>
            <a:ext cx="1956900" cy="896100"/>
          </a:xfrm>
          <a:prstGeom prst="roundRect">
            <a:avLst>
              <a:gd fmla="val 6122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4"/>
          <p:cNvSpPr/>
          <p:nvPr/>
        </p:nvSpPr>
        <p:spPr>
          <a:xfrm>
            <a:off x="5828130" y="2423160"/>
            <a:ext cx="310800" cy="54900"/>
          </a:xfrm>
          <a:prstGeom prst="roundRect">
            <a:avLst>
              <a:gd fmla="val 16667" name="adj"/>
            </a:avLst>
          </a:pr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4"/>
          <p:cNvSpPr txBox="1"/>
          <p:nvPr/>
        </p:nvSpPr>
        <p:spPr>
          <a:xfrm>
            <a:off x="5828130" y="2523744"/>
            <a:ext cx="1700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30"/>
              <a:buFont typeface="Calibri"/>
              <a:buNone/>
            </a:pPr>
            <a:r>
              <a:rPr b="1" i="0" lang="pt-BR" sz="103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Python e SQL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4"/>
          <p:cNvSpPr txBox="1"/>
          <p:nvPr/>
        </p:nvSpPr>
        <p:spPr>
          <a:xfrm>
            <a:off x="5838255" y="2779776"/>
            <a:ext cx="1700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770"/>
              <a:buFont typeface="Calibri"/>
              <a:buNone/>
            </a:pPr>
            <a:r>
              <a:rPr b="0" i="0" lang="pt-BR" sz="800" u="none" cap="none" strike="noStrike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Linguagem do motor de scoring e da integração com a IA da Oracle.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4"/>
          <p:cNvSpPr/>
          <p:nvPr/>
        </p:nvSpPr>
        <p:spPr>
          <a:xfrm>
            <a:off x="457200" y="3483875"/>
            <a:ext cx="8229600" cy="1264800"/>
          </a:xfrm>
          <a:prstGeom prst="roundRect">
            <a:avLst>
              <a:gd fmla="val 5469" name="adj"/>
            </a:avLst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4"/>
          <p:cNvSpPr txBox="1"/>
          <p:nvPr/>
        </p:nvSpPr>
        <p:spPr>
          <a:xfrm>
            <a:off x="658368" y="3615489"/>
            <a:ext cx="7772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7A5F"/>
              </a:buClr>
              <a:buSzPts val="950"/>
              <a:buFont typeface="Calibri"/>
              <a:buNone/>
            </a:pPr>
            <a:r>
              <a:rPr b="1" i="0" lang="pt-BR" sz="1150" u="none" cap="none" strike="noStrike">
                <a:solidFill>
                  <a:srgbClr val="E07A5F"/>
                </a:solidFill>
                <a:latin typeface="Calibri"/>
                <a:ea typeface="Calibri"/>
                <a:cs typeface="Calibri"/>
                <a:sym typeface="Calibri"/>
              </a:rPr>
              <a:t>ANÁLISES E INDICADORES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4"/>
          <p:cNvSpPr txBox="1"/>
          <p:nvPr/>
        </p:nvSpPr>
        <p:spPr>
          <a:xfrm>
            <a:off x="658368" y="3874464"/>
            <a:ext cx="78180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060"/>
              <a:buFont typeface="Arial"/>
              <a:buChar char="•"/>
            </a:pPr>
            <a:r>
              <a:rPr b="0" i="0" lang="pt-BR" sz="106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Motor de scoring cruza evidências clínicas com escalas de referência (CID-10, sinais vitais, exames, dispositivos, terapia medicamentosa)</a:t>
            </a:r>
            <a:endParaRPr b="0" i="0" sz="106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060"/>
              <a:buFont typeface="Arial"/>
              <a:buChar char="•"/>
            </a:pPr>
            <a:r>
              <a:rPr b="0" i="0" lang="pt-BR" sz="106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Gera um score auditável de elegibilidade para alta/transferência</a:t>
            </a:r>
            <a:endParaRPr b="0" i="0" sz="106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060"/>
              <a:buFont typeface="Arial"/>
              <a:buChar char="•"/>
            </a:pPr>
            <a:r>
              <a:rPr b="0" i="0" lang="pt-BR" sz="106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Indicadores de impacto: rotatividade de leitos, tempo de internação, risco de complicações e velocidade de decisão</a:t>
            </a:r>
            <a:endParaRPr b="0" i="0" sz="106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4"/>
          <p:cNvSpPr txBox="1"/>
          <p:nvPr/>
        </p:nvSpPr>
        <p:spPr>
          <a:xfrm>
            <a:off x="8549640" y="482803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900"/>
              <a:buFont typeface="Calibri"/>
              <a:buNone/>
            </a:pPr>
            <a:r>
              <a:rPr lang="pt-BR" sz="9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2" name="Google Shape;19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85775" y="382850"/>
            <a:ext cx="1173600" cy="45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/>
          <p:nvPr/>
        </p:nvSpPr>
        <p:spPr>
          <a:xfrm>
            <a:off x="329184" y="192024"/>
            <a:ext cx="5212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43D"/>
              </a:buClr>
              <a:buSzPts val="1900"/>
              <a:buFont typeface="Roboto Condensed"/>
              <a:buNone/>
            </a:pPr>
            <a:r>
              <a:rPr b="1" i="0" lang="pt-BR" sz="1900" u="none" cap="none" strike="noStrike">
                <a:solidFill>
                  <a:srgbClr val="10243D"/>
                </a:solidFill>
                <a:latin typeface="Space Grotesk"/>
                <a:ea typeface="Space Grotesk"/>
                <a:cs typeface="Space Grotesk"/>
                <a:sym typeface="Space Grotesk"/>
              </a:rPr>
              <a:t>Base metodológica do </a:t>
            </a:r>
            <a:r>
              <a:rPr b="1" lang="pt-BR" sz="1900">
                <a:solidFill>
                  <a:srgbClr val="10243D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DATACROSS</a:t>
            </a:r>
            <a:endParaRPr i="0" sz="19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cxnSp>
        <p:nvCxnSpPr>
          <p:cNvPr id="199" name="Google Shape;199;p25"/>
          <p:cNvCxnSpPr/>
          <p:nvPr/>
        </p:nvCxnSpPr>
        <p:spPr>
          <a:xfrm>
            <a:off x="329184" y="562356"/>
            <a:ext cx="1131570" cy="0"/>
          </a:xfrm>
          <a:prstGeom prst="straightConnector1">
            <a:avLst/>
          </a:prstGeom>
          <a:noFill/>
          <a:ln cap="flat" cmpd="sng" w="38100">
            <a:solidFill>
              <a:srgbClr val="E57A6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0" name="Google Shape;200;p25"/>
          <p:cNvSpPr/>
          <p:nvPr/>
        </p:nvSpPr>
        <p:spPr>
          <a:xfrm>
            <a:off x="377190" y="773978"/>
            <a:ext cx="36348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500"/>
              <a:buFont typeface="Roboto Condensed"/>
              <a:buNone/>
            </a:pPr>
            <a:r>
              <a:rPr b="1" i="0" lang="pt-BR" sz="1500" u="none" cap="none" strike="noStrike">
                <a:solidFill>
                  <a:srgbClr val="202124"/>
                </a:solidFill>
                <a:latin typeface="Space Grotesk"/>
                <a:ea typeface="Space Grotesk"/>
                <a:cs typeface="Space Grotesk"/>
                <a:sym typeface="Space Grotesk"/>
              </a:rPr>
              <a:t>Dois scores, uma arquitetura</a:t>
            </a:r>
            <a:endParaRPr i="0" sz="15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01" name="Google Shape;201;p25"/>
          <p:cNvSpPr/>
          <p:nvPr/>
        </p:nvSpPr>
        <p:spPr>
          <a:xfrm>
            <a:off x="377190" y="1048298"/>
            <a:ext cx="3634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386"/>
              </a:buClr>
              <a:buSzPts val="900"/>
              <a:buFont typeface="Roboto Condensed"/>
              <a:buNone/>
            </a:pPr>
            <a:r>
              <a:rPr i="1" lang="pt-BR" sz="900" u="none" cap="none" strike="noStrike">
                <a:solidFill>
                  <a:srgbClr val="687386"/>
                </a:solidFill>
                <a:latin typeface="Calibri"/>
                <a:ea typeface="Calibri"/>
                <a:cs typeface="Calibri"/>
                <a:sym typeface="Calibri"/>
              </a:rPr>
              <a:t>Perguntas distintas, mesma base de evidência</a:t>
            </a:r>
            <a:endParaRPr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5"/>
          <p:cNvSpPr/>
          <p:nvPr/>
        </p:nvSpPr>
        <p:spPr>
          <a:xfrm>
            <a:off x="377190" y="1385316"/>
            <a:ext cx="27432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43D"/>
              </a:buClr>
              <a:buSzPts val="1100"/>
              <a:buFont typeface="Roboto Condensed"/>
              <a:buNone/>
            </a:pPr>
            <a:r>
              <a:rPr b="1" i="0" lang="pt-BR" sz="1100" u="none" cap="none" strike="noStrike">
                <a:solidFill>
                  <a:srgbClr val="10243D"/>
                </a:solidFill>
                <a:latin typeface="Space Grotesk"/>
                <a:ea typeface="Space Grotesk"/>
                <a:cs typeface="Space Grotesk"/>
                <a:sym typeface="Space Grotesk"/>
              </a:rPr>
              <a:t>Dois scores, duas decisões</a:t>
            </a:r>
            <a:endParaRPr i="0" sz="11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03" name="Google Shape;203;p25"/>
          <p:cNvSpPr/>
          <p:nvPr/>
        </p:nvSpPr>
        <p:spPr>
          <a:xfrm>
            <a:off x="377190" y="1625346"/>
            <a:ext cx="4128516" cy="699516"/>
          </a:xfrm>
          <a:prstGeom prst="roundRect">
            <a:avLst>
              <a:gd fmla="val 4902" name="adj"/>
            </a:avLst>
          </a:prstGeom>
          <a:solidFill>
            <a:srgbClr val="F6F8FA"/>
          </a:solidFill>
          <a:ln cap="flat" cmpd="sng" w="1270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5"/>
          <p:cNvSpPr/>
          <p:nvPr/>
        </p:nvSpPr>
        <p:spPr>
          <a:xfrm>
            <a:off x="524139" y="1783079"/>
            <a:ext cx="11316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79B9"/>
              </a:buClr>
              <a:buSzPts val="800"/>
              <a:buFont typeface="Roboto Condensed"/>
              <a:buNone/>
            </a:pPr>
            <a:r>
              <a:rPr b="1" i="0" lang="pt-BR" sz="900" u="none" cap="none" strike="noStrike">
                <a:solidFill>
                  <a:srgbClr val="2C79B9"/>
                </a:solidFill>
                <a:latin typeface="Calibri"/>
                <a:ea typeface="Calibri"/>
                <a:cs typeface="Calibri"/>
                <a:sym typeface="Calibri"/>
              </a:rPr>
              <a:t>TRANSFERÊNCIA</a:t>
            </a:r>
            <a:endParaRPr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5"/>
          <p:cNvSpPr/>
          <p:nvPr/>
        </p:nvSpPr>
        <p:spPr>
          <a:xfrm>
            <a:off x="1602820" y="1758339"/>
            <a:ext cx="2571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00"/>
              <a:buFont typeface="Roboto Condensed"/>
              <a:buNone/>
            </a:pPr>
            <a:r>
              <a:rPr i="0" lang="pt-BR" sz="1000" u="none" cap="none" strike="noStrike">
                <a:solidFill>
                  <a:srgbClr val="202124"/>
                </a:solidFill>
                <a:latin typeface="Calibri"/>
                <a:ea typeface="Calibri"/>
                <a:cs typeface="Calibri"/>
                <a:sym typeface="Calibri"/>
              </a:rPr>
              <a:t>O paciente pode ser transferido?</a:t>
            </a:r>
            <a:endParaRPr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00"/>
              <a:buFont typeface="Roboto Condensed"/>
              <a:buNone/>
            </a:pPr>
            <a:r>
              <a:rPr i="0" lang="pt-BR" sz="1000" u="none" cap="none" strike="noStrike">
                <a:solidFill>
                  <a:srgbClr val="202124"/>
                </a:solidFill>
                <a:latin typeface="Calibri"/>
                <a:ea typeface="Calibri"/>
                <a:cs typeface="Calibri"/>
                <a:sym typeface="Calibri"/>
              </a:rPr>
              <a:t>Com que nível de suporte?</a:t>
            </a:r>
            <a:endParaRPr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5"/>
          <p:cNvSpPr/>
          <p:nvPr/>
        </p:nvSpPr>
        <p:spPr>
          <a:xfrm>
            <a:off x="4697730" y="1625346"/>
            <a:ext cx="4128516" cy="699516"/>
          </a:xfrm>
          <a:prstGeom prst="roundRect">
            <a:avLst>
              <a:gd fmla="val 4902" name="adj"/>
            </a:avLst>
          </a:prstGeom>
          <a:solidFill>
            <a:srgbClr val="F6F8FA"/>
          </a:solidFill>
          <a:ln cap="flat" cmpd="sng" w="1270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5"/>
          <p:cNvSpPr/>
          <p:nvPr/>
        </p:nvSpPr>
        <p:spPr>
          <a:xfrm>
            <a:off x="4889754" y="1803654"/>
            <a:ext cx="113157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79B9"/>
              </a:buClr>
              <a:buSzPts val="800"/>
              <a:buFont typeface="Roboto Condensed"/>
              <a:buNone/>
            </a:pPr>
            <a:r>
              <a:rPr b="1" i="0" lang="pt-BR" sz="900" u="none" cap="none" strike="noStrike">
                <a:solidFill>
                  <a:srgbClr val="2C79B9"/>
                </a:solidFill>
                <a:latin typeface="Calibri"/>
                <a:ea typeface="Calibri"/>
                <a:cs typeface="Calibri"/>
                <a:sym typeface="Calibri"/>
              </a:rPr>
              <a:t>ALTA / REABILITAÇÃO</a:t>
            </a:r>
            <a:endParaRPr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5"/>
          <p:cNvSpPr/>
          <p:nvPr/>
        </p:nvSpPr>
        <p:spPr>
          <a:xfrm>
            <a:off x="6064187" y="1766181"/>
            <a:ext cx="2571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00"/>
              <a:buFont typeface="Roboto Condensed"/>
              <a:buNone/>
            </a:pPr>
            <a:r>
              <a:rPr i="0" lang="pt-BR" sz="1000" u="none" cap="none" strike="noStrike">
                <a:solidFill>
                  <a:srgbClr val="202124"/>
                </a:solidFill>
                <a:latin typeface="Calibri"/>
                <a:ea typeface="Calibri"/>
                <a:cs typeface="Calibri"/>
                <a:sym typeface="Calibri"/>
              </a:rPr>
              <a:t>O paciente já pode sair da</a:t>
            </a:r>
            <a:endParaRPr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00"/>
              <a:buFont typeface="Roboto Condensed"/>
              <a:buNone/>
            </a:pPr>
            <a:r>
              <a:rPr i="0" lang="pt-BR" sz="1000" u="none" cap="none" strike="noStrike">
                <a:solidFill>
                  <a:srgbClr val="202124"/>
                </a:solidFill>
                <a:latin typeface="Calibri"/>
                <a:ea typeface="Calibri"/>
                <a:cs typeface="Calibri"/>
                <a:sym typeface="Calibri"/>
              </a:rPr>
              <a:t>internação?</a:t>
            </a:r>
            <a:endParaRPr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5"/>
          <p:cNvSpPr/>
          <p:nvPr/>
        </p:nvSpPr>
        <p:spPr>
          <a:xfrm>
            <a:off x="377190" y="2584980"/>
            <a:ext cx="3909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43D"/>
              </a:buClr>
              <a:buSzPts val="1100"/>
              <a:buFont typeface="Roboto Condensed"/>
              <a:buNone/>
            </a:pPr>
            <a:r>
              <a:rPr b="1" i="0" lang="pt-BR" sz="1100" u="none" cap="none" strike="noStrike">
                <a:solidFill>
                  <a:srgbClr val="10243D"/>
                </a:solidFill>
                <a:latin typeface="Calibri"/>
                <a:ea typeface="Calibri"/>
                <a:cs typeface="Calibri"/>
                <a:sym typeface="Calibri"/>
              </a:rPr>
              <a:t>Referências que sustentam os parâmetros</a:t>
            </a:r>
            <a:endParaRPr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5"/>
          <p:cNvSpPr/>
          <p:nvPr/>
        </p:nvSpPr>
        <p:spPr>
          <a:xfrm>
            <a:off x="377190" y="2894076"/>
            <a:ext cx="2542946" cy="240030"/>
          </a:xfrm>
          <a:prstGeom prst="rect">
            <a:avLst/>
          </a:prstGeom>
          <a:solidFill>
            <a:srgbClr val="E9EDF2"/>
          </a:solidFill>
          <a:ln cap="flat" cmpd="sng" w="9525">
            <a:solidFill>
              <a:srgbClr val="CDD3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5"/>
          <p:cNvSpPr/>
          <p:nvPr/>
        </p:nvSpPr>
        <p:spPr>
          <a:xfrm>
            <a:off x="432054" y="2914650"/>
            <a:ext cx="2433218" cy="198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600"/>
              <a:buFont typeface="Roboto Condensed"/>
              <a:buNone/>
            </a:pPr>
            <a:r>
              <a:rPr b="1" i="0" lang="pt-BR" sz="700" u="none" cap="none" strike="noStrike">
                <a:solidFill>
                  <a:srgbClr val="202124"/>
                </a:solidFill>
                <a:latin typeface="Calibri"/>
                <a:ea typeface="Calibri"/>
                <a:cs typeface="Calibri"/>
                <a:sym typeface="Calibri"/>
              </a:rPr>
              <a:t>Componente</a:t>
            </a:r>
            <a:endParaRPr b="1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5"/>
          <p:cNvSpPr/>
          <p:nvPr/>
        </p:nvSpPr>
        <p:spPr>
          <a:xfrm>
            <a:off x="2920136" y="2894076"/>
            <a:ext cx="5933542" cy="240030"/>
          </a:xfrm>
          <a:prstGeom prst="rect">
            <a:avLst/>
          </a:prstGeom>
          <a:solidFill>
            <a:srgbClr val="E9EDF2"/>
          </a:solidFill>
          <a:ln cap="flat" cmpd="sng" w="9525">
            <a:solidFill>
              <a:srgbClr val="CDD3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5"/>
          <p:cNvSpPr/>
          <p:nvPr/>
        </p:nvSpPr>
        <p:spPr>
          <a:xfrm>
            <a:off x="2975000" y="2914650"/>
            <a:ext cx="5823814" cy="198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600"/>
              <a:buFont typeface="Roboto Condensed"/>
              <a:buNone/>
            </a:pPr>
            <a:r>
              <a:rPr b="1" i="0" lang="pt-BR" sz="700" u="none" cap="none" strike="noStrike">
                <a:solidFill>
                  <a:srgbClr val="202124"/>
                </a:solidFill>
                <a:latin typeface="Calibri"/>
                <a:ea typeface="Calibri"/>
                <a:cs typeface="Calibri"/>
                <a:sym typeface="Calibri"/>
              </a:rPr>
              <a:t>Origem</a:t>
            </a:r>
            <a:endParaRPr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5"/>
          <p:cNvSpPr/>
          <p:nvPr/>
        </p:nvSpPr>
        <p:spPr>
          <a:xfrm>
            <a:off x="377190" y="3134106"/>
            <a:ext cx="2542946" cy="24003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3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5"/>
          <p:cNvSpPr/>
          <p:nvPr/>
        </p:nvSpPr>
        <p:spPr>
          <a:xfrm>
            <a:off x="432054" y="3154680"/>
            <a:ext cx="2433218" cy="198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600"/>
              <a:buFont typeface="Roboto Condensed"/>
              <a:buNone/>
            </a:pPr>
            <a:r>
              <a:rPr b="1" i="0" lang="pt-BR" sz="700" u="none" cap="none" strike="noStrike">
                <a:solidFill>
                  <a:srgbClr val="202124"/>
                </a:solidFill>
                <a:latin typeface="Calibri"/>
                <a:ea typeface="Calibri"/>
                <a:cs typeface="Calibri"/>
                <a:sym typeface="Calibri"/>
              </a:rPr>
              <a:t>Faixas de sinais vitais</a:t>
            </a:r>
            <a:endParaRPr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5"/>
          <p:cNvSpPr/>
          <p:nvPr/>
        </p:nvSpPr>
        <p:spPr>
          <a:xfrm>
            <a:off x="2920136" y="3134106"/>
            <a:ext cx="5933542" cy="24003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3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5"/>
          <p:cNvSpPr/>
          <p:nvPr/>
        </p:nvSpPr>
        <p:spPr>
          <a:xfrm>
            <a:off x="2975000" y="3154680"/>
            <a:ext cx="5823814" cy="198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600"/>
              <a:buFont typeface="Roboto Condensed"/>
              <a:buNone/>
            </a:pPr>
            <a:r>
              <a:rPr i="0" lang="pt-BR" sz="700" u="none" cap="none" strike="noStrike">
                <a:solidFill>
                  <a:srgbClr val="202124"/>
                </a:solidFill>
                <a:latin typeface="Calibri"/>
                <a:ea typeface="Calibri"/>
                <a:cs typeface="Calibri"/>
                <a:sym typeface="Calibri"/>
              </a:rPr>
              <a:t>NEWS2 e MEWS</a:t>
            </a:r>
            <a:endParaRPr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5"/>
          <p:cNvSpPr/>
          <p:nvPr/>
        </p:nvSpPr>
        <p:spPr>
          <a:xfrm>
            <a:off x="377190" y="3374136"/>
            <a:ext cx="2542946" cy="24003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3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5"/>
          <p:cNvSpPr/>
          <p:nvPr/>
        </p:nvSpPr>
        <p:spPr>
          <a:xfrm>
            <a:off x="432054" y="3394710"/>
            <a:ext cx="2433218" cy="198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600"/>
              <a:buFont typeface="Roboto Condensed"/>
              <a:buNone/>
            </a:pPr>
            <a:r>
              <a:rPr b="1" i="0" lang="pt-BR" sz="700" u="none" cap="none" strike="noStrike">
                <a:solidFill>
                  <a:srgbClr val="202124"/>
                </a:solidFill>
                <a:latin typeface="Calibri"/>
                <a:ea typeface="Calibri"/>
                <a:cs typeface="Calibri"/>
                <a:sym typeface="Calibri"/>
              </a:rPr>
              <a:t>Nível de consciência</a:t>
            </a:r>
            <a:endParaRPr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5"/>
          <p:cNvSpPr/>
          <p:nvPr/>
        </p:nvSpPr>
        <p:spPr>
          <a:xfrm>
            <a:off x="2920136" y="3374136"/>
            <a:ext cx="5933542" cy="24003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3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5"/>
          <p:cNvSpPr/>
          <p:nvPr/>
        </p:nvSpPr>
        <p:spPr>
          <a:xfrm>
            <a:off x="2975000" y="3394710"/>
            <a:ext cx="5823814" cy="198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600"/>
              <a:buFont typeface="Roboto Condensed"/>
              <a:buNone/>
            </a:pPr>
            <a:r>
              <a:rPr i="0" lang="pt-BR" sz="700" u="none" cap="none" strike="noStrike">
                <a:solidFill>
                  <a:srgbClr val="202124"/>
                </a:solidFill>
                <a:latin typeface="Calibri"/>
                <a:ea typeface="Calibri"/>
                <a:cs typeface="Calibri"/>
                <a:sym typeface="Calibri"/>
              </a:rPr>
              <a:t>Escala de Coma de Glasgow (peso maior no AVC)</a:t>
            </a:r>
            <a:endParaRPr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5"/>
          <p:cNvSpPr/>
          <p:nvPr/>
        </p:nvSpPr>
        <p:spPr>
          <a:xfrm>
            <a:off x="377190" y="3614166"/>
            <a:ext cx="2542946" cy="24003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3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5"/>
          <p:cNvSpPr/>
          <p:nvPr/>
        </p:nvSpPr>
        <p:spPr>
          <a:xfrm>
            <a:off x="432054" y="3634740"/>
            <a:ext cx="2433218" cy="198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600"/>
              <a:buFont typeface="Roboto Condensed"/>
              <a:buNone/>
            </a:pPr>
            <a:r>
              <a:rPr b="1" i="0" lang="pt-BR" sz="700" u="none" cap="none" strike="noStrike">
                <a:solidFill>
                  <a:srgbClr val="202124"/>
                </a:solidFill>
                <a:latin typeface="Calibri"/>
                <a:ea typeface="Calibri"/>
                <a:cs typeface="Calibri"/>
                <a:sym typeface="Calibri"/>
              </a:rPr>
              <a:t>Gravidade na ITU</a:t>
            </a:r>
            <a:endParaRPr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5"/>
          <p:cNvSpPr/>
          <p:nvPr/>
        </p:nvSpPr>
        <p:spPr>
          <a:xfrm>
            <a:off x="2920136" y="3614166"/>
            <a:ext cx="5933542" cy="24003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3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5"/>
          <p:cNvSpPr/>
          <p:nvPr/>
        </p:nvSpPr>
        <p:spPr>
          <a:xfrm>
            <a:off x="2975000" y="3634740"/>
            <a:ext cx="5823814" cy="198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600"/>
              <a:buFont typeface="Roboto Condensed"/>
              <a:buNone/>
            </a:pPr>
            <a:r>
              <a:rPr i="0" lang="pt-BR" sz="700" u="none" cap="none" strike="noStrike">
                <a:solidFill>
                  <a:srgbClr val="202124"/>
                </a:solidFill>
                <a:latin typeface="Calibri"/>
                <a:ea typeface="Calibri"/>
                <a:cs typeface="Calibri"/>
                <a:sym typeface="Calibri"/>
              </a:rPr>
              <a:t>qSOFA — PAS, FR e alteração de consciência</a:t>
            </a:r>
            <a:endParaRPr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5"/>
          <p:cNvSpPr/>
          <p:nvPr/>
        </p:nvSpPr>
        <p:spPr>
          <a:xfrm>
            <a:off x="377190" y="3854196"/>
            <a:ext cx="2542946" cy="24003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3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5"/>
          <p:cNvSpPr/>
          <p:nvPr/>
        </p:nvSpPr>
        <p:spPr>
          <a:xfrm>
            <a:off x="432054" y="3874770"/>
            <a:ext cx="2433218" cy="198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600"/>
              <a:buFont typeface="Roboto Condensed"/>
              <a:buNone/>
            </a:pPr>
            <a:r>
              <a:rPr b="1" i="0" lang="pt-BR" sz="700" u="none" cap="none" strike="noStrike">
                <a:solidFill>
                  <a:srgbClr val="202124"/>
                </a:solidFill>
                <a:latin typeface="Calibri"/>
                <a:ea typeface="Calibri"/>
                <a:cs typeface="Calibri"/>
                <a:sym typeface="Calibri"/>
              </a:rPr>
              <a:t>Gravidade na pneumonia</a:t>
            </a:r>
            <a:endParaRPr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5"/>
          <p:cNvSpPr/>
          <p:nvPr/>
        </p:nvSpPr>
        <p:spPr>
          <a:xfrm>
            <a:off x="2920136" y="3854196"/>
            <a:ext cx="5933542" cy="24003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3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5"/>
          <p:cNvSpPr/>
          <p:nvPr/>
        </p:nvSpPr>
        <p:spPr>
          <a:xfrm>
            <a:off x="2975000" y="3874770"/>
            <a:ext cx="5823814" cy="198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600"/>
              <a:buFont typeface="Roboto Condensed"/>
              <a:buNone/>
            </a:pPr>
            <a:r>
              <a:rPr i="0" lang="pt-BR" sz="700" u="none" cap="none" strike="noStrike">
                <a:solidFill>
                  <a:srgbClr val="202124"/>
                </a:solidFill>
                <a:latin typeface="Calibri"/>
                <a:ea typeface="Calibri"/>
                <a:cs typeface="Calibri"/>
                <a:sym typeface="Calibri"/>
              </a:rPr>
              <a:t>CURB-65</a:t>
            </a:r>
            <a:endParaRPr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5"/>
          <p:cNvSpPr/>
          <p:nvPr/>
        </p:nvSpPr>
        <p:spPr>
          <a:xfrm>
            <a:off x="377190" y="4094226"/>
            <a:ext cx="2542946" cy="24003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3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5"/>
          <p:cNvSpPr/>
          <p:nvPr/>
        </p:nvSpPr>
        <p:spPr>
          <a:xfrm>
            <a:off x="432054" y="4114800"/>
            <a:ext cx="2433218" cy="198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600"/>
              <a:buFont typeface="Roboto Condensed"/>
              <a:buNone/>
            </a:pPr>
            <a:r>
              <a:rPr b="1" i="0" lang="pt-BR" sz="700" u="none" cap="none" strike="noStrike">
                <a:solidFill>
                  <a:srgbClr val="202124"/>
                </a:solidFill>
                <a:latin typeface="Calibri"/>
                <a:ea typeface="Calibri"/>
                <a:cs typeface="Calibri"/>
                <a:sym typeface="Calibri"/>
              </a:rPr>
              <a:t>Desfecho operacional</a:t>
            </a:r>
            <a:endParaRPr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5"/>
          <p:cNvSpPr/>
          <p:nvPr/>
        </p:nvSpPr>
        <p:spPr>
          <a:xfrm>
            <a:off x="2920136" y="4094226"/>
            <a:ext cx="5933542" cy="24003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3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5"/>
          <p:cNvSpPr/>
          <p:nvPr/>
        </p:nvSpPr>
        <p:spPr>
          <a:xfrm>
            <a:off x="2975000" y="4114800"/>
            <a:ext cx="5823814" cy="198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600"/>
              <a:buFont typeface="Roboto Condensed"/>
              <a:buNone/>
            </a:pPr>
            <a:r>
              <a:rPr i="0" lang="pt-BR" sz="700" u="none" cap="none" strike="noStrike">
                <a:solidFill>
                  <a:srgbClr val="202124"/>
                </a:solidFill>
                <a:latin typeface="Calibri"/>
                <a:ea typeface="Calibri"/>
                <a:cs typeface="Calibri"/>
                <a:sym typeface="Calibri"/>
              </a:rPr>
              <a:t>Portaria MS 2.048/2002 — ambulância Tipo D, suporte avançado</a:t>
            </a:r>
            <a:endParaRPr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5"/>
          <p:cNvSpPr/>
          <p:nvPr/>
        </p:nvSpPr>
        <p:spPr>
          <a:xfrm>
            <a:off x="377190" y="4334256"/>
            <a:ext cx="2542946" cy="24003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3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5"/>
          <p:cNvSpPr/>
          <p:nvPr/>
        </p:nvSpPr>
        <p:spPr>
          <a:xfrm>
            <a:off x="432054" y="4354830"/>
            <a:ext cx="2433218" cy="198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600"/>
              <a:buFont typeface="Roboto Condensed"/>
              <a:buNone/>
            </a:pPr>
            <a:r>
              <a:rPr b="1" i="0" lang="pt-BR" sz="700" u="none" cap="none" strike="noStrike">
                <a:solidFill>
                  <a:srgbClr val="202124"/>
                </a:solidFill>
                <a:latin typeface="Calibri"/>
                <a:ea typeface="Calibri"/>
                <a:cs typeface="Calibri"/>
                <a:sym typeface="Calibri"/>
              </a:rPr>
              <a:t>Linha de cuidado do AVC</a:t>
            </a:r>
            <a:endParaRPr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5"/>
          <p:cNvSpPr/>
          <p:nvPr/>
        </p:nvSpPr>
        <p:spPr>
          <a:xfrm>
            <a:off x="2920136" y="4334256"/>
            <a:ext cx="5933542" cy="24003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3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5"/>
          <p:cNvSpPr/>
          <p:nvPr/>
        </p:nvSpPr>
        <p:spPr>
          <a:xfrm>
            <a:off x="2975000" y="4354830"/>
            <a:ext cx="5823814" cy="198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600"/>
              <a:buFont typeface="Roboto Condensed"/>
              <a:buNone/>
            </a:pPr>
            <a:r>
              <a:rPr i="0" lang="pt-BR" sz="700" u="none" cap="none" strike="noStrike">
                <a:solidFill>
                  <a:srgbClr val="202124"/>
                </a:solidFill>
                <a:latin typeface="Calibri"/>
                <a:ea typeface="Calibri"/>
                <a:cs typeface="Calibri"/>
                <a:sym typeface="Calibri"/>
              </a:rPr>
              <a:t>Portaria MS 665/2012</a:t>
            </a:r>
            <a:endParaRPr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5"/>
          <p:cNvSpPr txBox="1"/>
          <p:nvPr/>
        </p:nvSpPr>
        <p:spPr>
          <a:xfrm>
            <a:off x="8549640" y="4828032"/>
            <a:ext cx="457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900"/>
              <a:buFont typeface="Calibri"/>
              <a:buNone/>
            </a:pPr>
            <a:r>
              <a:rPr lang="pt-BR" sz="9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6"/>
          <p:cNvSpPr/>
          <p:nvPr/>
        </p:nvSpPr>
        <p:spPr>
          <a:xfrm>
            <a:off x="329184" y="192024"/>
            <a:ext cx="5212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43D"/>
              </a:buClr>
              <a:buSzPts val="1900"/>
              <a:buFont typeface="Roboto Condensed"/>
              <a:buNone/>
            </a:pPr>
            <a:r>
              <a:rPr b="1" i="0" lang="pt-BR" sz="1900" u="none" cap="none" strike="noStrike">
                <a:solidFill>
                  <a:srgbClr val="10243D"/>
                </a:solidFill>
                <a:latin typeface="Space Grotesk"/>
                <a:ea typeface="Space Grotesk"/>
                <a:cs typeface="Space Grotesk"/>
                <a:sym typeface="Space Grotesk"/>
              </a:rPr>
              <a:t>Score detalhado</a:t>
            </a:r>
            <a:endParaRPr i="0" sz="19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cxnSp>
        <p:nvCxnSpPr>
          <p:cNvPr id="245" name="Google Shape;245;p26"/>
          <p:cNvCxnSpPr/>
          <p:nvPr/>
        </p:nvCxnSpPr>
        <p:spPr>
          <a:xfrm>
            <a:off x="329184" y="562356"/>
            <a:ext cx="1131570" cy="0"/>
          </a:xfrm>
          <a:prstGeom prst="straightConnector1">
            <a:avLst/>
          </a:prstGeom>
          <a:noFill/>
          <a:ln cap="flat" cmpd="sng" w="38100">
            <a:solidFill>
              <a:srgbClr val="E57A6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6" name="Google Shape;246;p26"/>
          <p:cNvSpPr/>
          <p:nvPr/>
        </p:nvSpPr>
        <p:spPr>
          <a:xfrm>
            <a:off x="422988" y="768096"/>
            <a:ext cx="53493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00"/>
              <a:buFont typeface="Roboto Condensed"/>
              <a:buNone/>
            </a:pPr>
            <a:r>
              <a:rPr i="0" lang="pt-BR" sz="1000" u="none" cap="none" strike="noStrike">
                <a:solidFill>
                  <a:srgbClr val="202124"/>
                </a:solidFill>
                <a:latin typeface="Calibri"/>
                <a:ea typeface="Calibri"/>
                <a:cs typeface="Calibri"/>
                <a:sym typeface="Calibri"/>
              </a:rPr>
              <a:t>Score numérico categoriza o paciente em 3 faixas decisórias:</a:t>
            </a:r>
            <a:endParaRPr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6"/>
          <p:cNvSpPr/>
          <p:nvPr/>
        </p:nvSpPr>
        <p:spPr>
          <a:xfrm>
            <a:off x="546432" y="1042416"/>
            <a:ext cx="58293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900"/>
              <a:buFont typeface="Roboto Condensed"/>
              <a:buNone/>
            </a:pPr>
            <a:r>
              <a:rPr b="1" i="0" lang="pt-BR" sz="900" u="none" cap="none" strike="noStrike">
                <a:solidFill>
                  <a:srgbClr val="202124"/>
                </a:solidFill>
                <a:latin typeface="Calibri"/>
                <a:ea typeface="Calibri"/>
                <a:cs typeface="Calibri"/>
                <a:sym typeface="Calibri"/>
              </a:rPr>
              <a:t>70 a 100 pontos</a:t>
            </a:r>
            <a:r>
              <a:rPr i="0" lang="pt-BR" sz="900" u="none" cap="none" strike="noStrike">
                <a:solidFill>
                  <a:srgbClr val="202124"/>
                </a:solidFill>
                <a:latin typeface="Calibri"/>
                <a:ea typeface="Calibri"/>
                <a:cs typeface="Calibri"/>
                <a:sym typeface="Calibri"/>
              </a:rPr>
              <a:t>  —  apto para avaliação de transferência, alta ou reabilitação</a:t>
            </a:r>
            <a:endParaRPr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6"/>
          <p:cNvSpPr/>
          <p:nvPr/>
        </p:nvSpPr>
        <p:spPr>
          <a:xfrm>
            <a:off x="546432" y="1261872"/>
            <a:ext cx="58293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900"/>
              <a:buFont typeface="Roboto Condensed"/>
              <a:buNone/>
            </a:pPr>
            <a:r>
              <a:rPr b="1" i="0" lang="pt-BR" sz="900" u="none" cap="none" strike="noStrike">
                <a:solidFill>
                  <a:srgbClr val="202124"/>
                </a:solidFill>
                <a:latin typeface="Calibri"/>
                <a:ea typeface="Calibri"/>
                <a:cs typeface="Calibri"/>
                <a:sym typeface="Calibri"/>
              </a:rPr>
              <a:t>40 a 69 pontos</a:t>
            </a:r>
            <a:r>
              <a:rPr i="0" lang="pt-BR" sz="900" u="none" cap="none" strike="noStrike">
                <a:solidFill>
                  <a:srgbClr val="202124"/>
                </a:solidFill>
                <a:latin typeface="Calibri"/>
                <a:ea typeface="Calibri"/>
                <a:cs typeface="Calibri"/>
                <a:sym typeface="Calibri"/>
              </a:rPr>
              <a:t>  —  reavaliação em 24 horas</a:t>
            </a:r>
            <a:endParaRPr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6"/>
          <p:cNvSpPr/>
          <p:nvPr/>
        </p:nvSpPr>
        <p:spPr>
          <a:xfrm>
            <a:off x="546432" y="1481328"/>
            <a:ext cx="58293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900"/>
              <a:buFont typeface="Roboto Condensed"/>
              <a:buNone/>
            </a:pPr>
            <a:r>
              <a:rPr b="1" i="0" lang="pt-BR" sz="900" u="none" cap="none" strike="noStrike">
                <a:solidFill>
                  <a:srgbClr val="202124"/>
                </a:solidFill>
                <a:latin typeface="Calibri"/>
                <a:ea typeface="Calibri"/>
                <a:cs typeface="Calibri"/>
                <a:sym typeface="Calibri"/>
              </a:rPr>
              <a:t>Abaixo de 40 pontos</a:t>
            </a:r>
            <a:r>
              <a:rPr i="0" lang="pt-BR" sz="900" u="none" cap="none" strike="noStrike">
                <a:solidFill>
                  <a:srgbClr val="202124"/>
                </a:solidFill>
                <a:latin typeface="Calibri"/>
                <a:ea typeface="Calibri"/>
                <a:cs typeface="Calibri"/>
                <a:sym typeface="Calibri"/>
              </a:rPr>
              <a:t>  —  permanência na internação</a:t>
            </a:r>
            <a:endParaRPr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data/score_tables.png" id="250" name="Google Shape;25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0" y="1768388"/>
            <a:ext cx="8538210" cy="14538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1" name="Google Shape;251;p26"/>
          <p:cNvCxnSpPr/>
          <p:nvPr/>
        </p:nvCxnSpPr>
        <p:spPr>
          <a:xfrm>
            <a:off x="329184" y="3360916"/>
            <a:ext cx="8538300" cy="0"/>
          </a:xfrm>
          <a:prstGeom prst="straightConnector1">
            <a:avLst/>
          </a:prstGeom>
          <a:noFill/>
          <a:ln cap="flat" cmpd="sng" w="9525">
            <a:solidFill>
              <a:srgbClr val="D5D9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2" name="Google Shape;252;p26"/>
          <p:cNvSpPr/>
          <p:nvPr/>
        </p:nvSpPr>
        <p:spPr>
          <a:xfrm>
            <a:off x="342900" y="3499548"/>
            <a:ext cx="3154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43D"/>
              </a:buClr>
              <a:buSzPts val="1100"/>
              <a:buFont typeface="Roboto Condensed"/>
              <a:buNone/>
            </a:pPr>
            <a:r>
              <a:rPr b="1" i="0" lang="pt-BR" sz="1100" u="none" cap="none" strike="noStrike">
                <a:solidFill>
                  <a:srgbClr val="10243D"/>
                </a:solidFill>
                <a:latin typeface="Calibri"/>
                <a:ea typeface="Calibri"/>
                <a:cs typeface="Calibri"/>
                <a:sym typeface="Calibri"/>
              </a:rPr>
              <a:t>CLASSIFICAÇÃO GERAL DE TRANSFERÊNCIA</a:t>
            </a:r>
            <a:endParaRPr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6"/>
          <p:cNvSpPr/>
          <p:nvPr/>
        </p:nvSpPr>
        <p:spPr>
          <a:xfrm>
            <a:off x="342900" y="3746436"/>
            <a:ext cx="939300" cy="257100"/>
          </a:xfrm>
          <a:prstGeom prst="rect">
            <a:avLst/>
          </a:prstGeom>
          <a:solidFill>
            <a:srgbClr val="E9EDF2"/>
          </a:solidFill>
          <a:ln cap="flat" cmpd="sng" w="9525">
            <a:solidFill>
              <a:srgbClr val="CDD3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6"/>
          <p:cNvSpPr/>
          <p:nvPr/>
        </p:nvSpPr>
        <p:spPr>
          <a:xfrm>
            <a:off x="397764" y="3767010"/>
            <a:ext cx="8295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600"/>
              <a:buFont typeface="Roboto Condensed"/>
              <a:buNone/>
            </a:pPr>
            <a:r>
              <a:rPr b="1" i="0" lang="pt-BR" sz="800" u="none" cap="none" strike="noStrike">
                <a:solidFill>
                  <a:srgbClr val="202124"/>
                </a:solidFill>
                <a:latin typeface="Calibri"/>
                <a:ea typeface="Calibri"/>
                <a:cs typeface="Calibri"/>
                <a:sym typeface="Calibri"/>
              </a:rPr>
              <a:t>Faixa</a:t>
            </a:r>
            <a:endParaRPr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6"/>
          <p:cNvSpPr/>
          <p:nvPr/>
        </p:nvSpPr>
        <p:spPr>
          <a:xfrm>
            <a:off x="1282103" y="3746436"/>
            <a:ext cx="1536900" cy="257100"/>
          </a:xfrm>
          <a:prstGeom prst="rect">
            <a:avLst/>
          </a:prstGeom>
          <a:solidFill>
            <a:srgbClr val="E9EDF2"/>
          </a:solidFill>
          <a:ln cap="flat" cmpd="sng" w="9525">
            <a:solidFill>
              <a:srgbClr val="CDD3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6"/>
          <p:cNvSpPr/>
          <p:nvPr/>
        </p:nvSpPr>
        <p:spPr>
          <a:xfrm>
            <a:off x="1336967" y="3767010"/>
            <a:ext cx="14271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600"/>
              <a:buFont typeface="Roboto Condensed"/>
              <a:buNone/>
            </a:pPr>
            <a:r>
              <a:rPr b="1" i="0" lang="pt-BR" sz="800" u="none" cap="none" strike="noStrike">
                <a:solidFill>
                  <a:srgbClr val="202124"/>
                </a:solidFill>
                <a:latin typeface="Calibri"/>
                <a:ea typeface="Calibri"/>
                <a:cs typeface="Calibri"/>
                <a:sym typeface="Calibri"/>
              </a:rPr>
              <a:t>Classificação</a:t>
            </a:r>
            <a:endParaRPr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6"/>
          <p:cNvSpPr/>
          <p:nvPr/>
        </p:nvSpPr>
        <p:spPr>
          <a:xfrm>
            <a:off x="2818981" y="3746436"/>
            <a:ext cx="6062100" cy="257100"/>
          </a:xfrm>
          <a:prstGeom prst="rect">
            <a:avLst/>
          </a:prstGeom>
          <a:solidFill>
            <a:srgbClr val="E9EDF2"/>
          </a:solidFill>
          <a:ln cap="flat" cmpd="sng" w="9525">
            <a:solidFill>
              <a:srgbClr val="CDD3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6"/>
          <p:cNvSpPr/>
          <p:nvPr/>
        </p:nvSpPr>
        <p:spPr>
          <a:xfrm>
            <a:off x="2873845" y="3767010"/>
            <a:ext cx="5952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600"/>
              <a:buFont typeface="Roboto Condensed"/>
              <a:buNone/>
            </a:pPr>
            <a:r>
              <a:rPr b="1" i="0" lang="pt-BR" sz="800" u="none" cap="none" strike="noStrike">
                <a:solidFill>
                  <a:srgbClr val="202124"/>
                </a:solidFill>
                <a:latin typeface="Calibri"/>
                <a:ea typeface="Calibri"/>
                <a:cs typeface="Calibri"/>
                <a:sym typeface="Calibri"/>
              </a:rPr>
              <a:t>Saída proposta</a:t>
            </a:r>
            <a:endParaRPr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6"/>
          <p:cNvSpPr/>
          <p:nvPr/>
        </p:nvSpPr>
        <p:spPr>
          <a:xfrm>
            <a:off x="342900" y="4003611"/>
            <a:ext cx="939300" cy="257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3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6"/>
          <p:cNvSpPr/>
          <p:nvPr/>
        </p:nvSpPr>
        <p:spPr>
          <a:xfrm>
            <a:off x="397764" y="4024185"/>
            <a:ext cx="8295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600"/>
              <a:buFont typeface="Roboto Condensed"/>
              <a:buNone/>
            </a:pPr>
            <a:r>
              <a:rPr b="1" i="0" lang="pt-BR" sz="800" u="none" cap="none" strike="noStrike">
                <a:solidFill>
                  <a:srgbClr val="202124"/>
                </a:solidFill>
                <a:latin typeface="Calibri"/>
                <a:ea typeface="Calibri"/>
                <a:cs typeface="Calibri"/>
                <a:sym typeface="Calibri"/>
              </a:rPr>
              <a:t>70–100</a:t>
            </a:r>
            <a:endParaRPr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6"/>
          <p:cNvSpPr/>
          <p:nvPr/>
        </p:nvSpPr>
        <p:spPr>
          <a:xfrm>
            <a:off x="1282103" y="4003611"/>
            <a:ext cx="1536900" cy="257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3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6"/>
          <p:cNvSpPr/>
          <p:nvPr/>
        </p:nvSpPr>
        <p:spPr>
          <a:xfrm>
            <a:off x="1336967" y="4024185"/>
            <a:ext cx="14271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600"/>
              <a:buFont typeface="Roboto Condensed"/>
              <a:buNone/>
            </a:pPr>
            <a:r>
              <a:rPr i="0" lang="pt-BR" sz="800" u="none" cap="none" strike="noStrike">
                <a:solidFill>
                  <a:srgbClr val="202124"/>
                </a:solidFill>
                <a:latin typeface="Calibri"/>
                <a:ea typeface="Calibri"/>
                <a:cs typeface="Calibri"/>
                <a:sym typeface="Calibri"/>
              </a:rPr>
              <a:t>Estável</a:t>
            </a:r>
            <a:endParaRPr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6"/>
          <p:cNvSpPr/>
          <p:nvPr/>
        </p:nvSpPr>
        <p:spPr>
          <a:xfrm>
            <a:off x="2818981" y="4003611"/>
            <a:ext cx="6062100" cy="257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3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6"/>
          <p:cNvSpPr/>
          <p:nvPr/>
        </p:nvSpPr>
        <p:spPr>
          <a:xfrm>
            <a:off x="2873845" y="4024185"/>
            <a:ext cx="5952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600"/>
              <a:buFont typeface="Roboto Condensed"/>
              <a:buNone/>
            </a:pPr>
            <a:r>
              <a:rPr i="0" lang="pt-BR" sz="800" u="none" cap="none" strike="noStrike">
                <a:solidFill>
                  <a:srgbClr val="202124"/>
                </a:solidFill>
                <a:latin typeface="Calibri"/>
                <a:ea typeface="Calibri"/>
                <a:cs typeface="Calibri"/>
                <a:sym typeface="Calibri"/>
              </a:rPr>
              <a:t>Elegível para transferência programada, após avaliação clínica.</a:t>
            </a:r>
            <a:endParaRPr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6"/>
          <p:cNvSpPr/>
          <p:nvPr/>
        </p:nvSpPr>
        <p:spPr>
          <a:xfrm>
            <a:off x="342900" y="4260786"/>
            <a:ext cx="939300" cy="257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3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6"/>
          <p:cNvSpPr/>
          <p:nvPr/>
        </p:nvSpPr>
        <p:spPr>
          <a:xfrm>
            <a:off x="397764" y="4281360"/>
            <a:ext cx="8295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600"/>
              <a:buFont typeface="Roboto Condensed"/>
              <a:buNone/>
            </a:pPr>
            <a:r>
              <a:rPr b="1" i="0" lang="pt-BR" sz="800" u="none" cap="none" strike="noStrike">
                <a:solidFill>
                  <a:srgbClr val="202124"/>
                </a:solidFill>
                <a:latin typeface="Calibri"/>
                <a:ea typeface="Calibri"/>
                <a:cs typeface="Calibri"/>
                <a:sym typeface="Calibri"/>
              </a:rPr>
              <a:t>40–69</a:t>
            </a:r>
            <a:endParaRPr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6"/>
          <p:cNvSpPr/>
          <p:nvPr/>
        </p:nvSpPr>
        <p:spPr>
          <a:xfrm>
            <a:off x="1282103" y="4260786"/>
            <a:ext cx="1536900" cy="257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3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6"/>
          <p:cNvSpPr/>
          <p:nvPr/>
        </p:nvSpPr>
        <p:spPr>
          <a:xfrm>
            <a:off x="1336967" y="4281360"/>
            <a:ext cx="14271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600"/>
              <a:buFont typeface="Roboto Condensed"/>
              <a:buNone/>
            </a:pPr>
            <a:r>
              <a:rPr i="0" lang="pt-BR" sz="800" u="none" cap="none" strike="noStrike">
                <a:solidFill>
                  <a:srgbClr val="202124"/>
                </a:solidFill>
                <a:latin typeface="Calibri"/>
                <a:ea typeface="Calibri"/>
                <a:cs typeface="Calibri"/>
                <a:sym typeface="Calibri"/>
              </a:rPr>
              <a:t>Risco intermediário</a:t>
            </a:r>
            <a:endParaRPr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6"/>
          <p:cNvSpPr/>
          <p:nvPr/>
        </p:nvSpPr>
        <p:spPr>
          <a:xfrm>
            <a:off x="2818981" y="4260786"/>
            <a:ext cx="6062100" cy="257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3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6"/>
          <p:cNvSpPr/>
          <p:nvPr/>
        </p:nvSpPr>
        <p:spPr>
          <a:xfrm>
            <a:off x="2873845" y="4281360"/>
            <a:ext cx="5952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600"/>
              <a:buFont typeface="Roboto Condensed"/>
              <a:buNone/>
            </a:pPr>
            <a:r>
              <a:rPr i="0" lang="pt-BR" sz="800" u="none" cap="none" strike="noStrike">
                <a:solidFill>
                  <a:srgbClr val="202124"/>
                </a:solidFill>
                <a:latin typeface="Calibri"/>
                <a:ea typeface="Calibri"/>
                <a:cs typeface="Calibri"/>
                <a:sym typeface="Calibri"/>
              </a:rPr>
              <a:t>Transferência condicionada à avaliação médica e definição do suporte.</a:t>
            </a:r>
            <a:endParaRPr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6"/>
          <p:cNvSpPr/>
          <p:nvPr/>
        </p:nvSpPr>
        <p:spPr>
          <a:xfrm>
            <a:off x="342900" y="4517961"/>
            <a:ext cx="939300" cy="257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3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6"/>
          <p:cNvSpPr/>
          <p:nvPr/>
        </p:nvSpPr>
        <p:spPr>
          <a:xfrm>
            <a:off x="397764" y="4538535"/>
            <a:ext cx="8295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600"/>
              <a:buFont typeface="Roboto Condensed"/>
              <a:buNone/>
            </a:pPr>
            <a:r>
              <a:rPr b="1" i="0" lang="pt-BR" sz="800" u="none" cap="none" strike="noStrike">
                <a:solidFill>
                  <a:srgbClr val="202124"/>
                </a:solidFill>
                <a:latin typeface="Calibri"/>
                <a:ea typeface="Calibri"/>
                <a:cs typeface="Calibri"/>
                <a:sym typeface="Calibri"/>
              </a:rPr>
              <a:t>0–39</a:t>
            </a:r>
            <a:endParaRPr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6"/>
          <p:cNvSpPr/>
          <p:nvPr/>
        </p:nvSpPr>
        <p:spPr>
          <a:xfrm>
            <a:off x="1282103" y="4517961"/>
            <a:ext cx="1536900" cy="257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3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6"/>
          <p:cNvSpPr/>
          <p:nvPr/>
        </p:nvSpPr>
        <p:spPr>
          <a:xfrm>
            <a:off x="1336967" y="4538535"/>
            <a:ext cx="14271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600"/>
              <a:buFont typeface="Roboto Condensed"/>
              <a:buNone/>
            </a:pPr>
            <a:r>
              <a:rPr i="0" lang="pt-BR" sz="800" u="none" cap="none" strike="noStrike">
                <a:solidFill>
                  <a:srgbClr val="202124"/>
                </a:solidFill>
                <a:latin typeface="Calibri"/>
                <a:ea typeface="Calibri"/>
                <a:cs typeface="Calibri"/>
                <a:sym typeface="Calibri"/>
              </a:rPr>
              <a:t>Alta complexidade / instabilidade</a:t>
            </a:r>
            <a:endParaRPr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6"/>
          <p:cNvSpPr/>
          <p:nvPr/>
        </p:nvSpPr>
        <p:spPr>
          <a:xfrm>
            <a:off x="2818981" y="4517961"/>
            <a:ext cx="6062100" cy="257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3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6"/>
          <p:cNvSpPr/>
          <p:nvPr/>
        </p:nvSpPr>
        <p:spPr>
          <a:xfrm>
            <a:off x="2873845" y="4538535"/>
            <a:ext cx="5952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600"/>
              <a:buFont typeface="Roboto Condensed"/>
              <a:buNone/>
            </a:pPr>
            <a:r>
              <a:rPr i="0" lang="pt-BR" sz="800" u="none" cap="none" strike="noStrike">
                <a:solidFill>
                  <a:srgbClr val="202124"/>
                </a:solidFill>
                <a:latin typeface="Calibri"/>
                <a:ea typeface="Calibri"/>
                <a:cs typeface="Calibri"/>
                <a:sym typeface="Calibri"/>
              </a:rPr>
              <a:t>Transferência para serviço de maior complexidade, com avaliação de suporte avançado.</a:t>
            </a:r>
            <a:endParaRPr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6"/>
          <p:cNvSpPr txBox="1"/>
          <p:nvPr/>
        </p:nvSpPr>
        <p:spPr>
          <a:xfrm>
            <a:off x="8549640" y="4828032"/>
            <a:ext cx="457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900"/>
              <a:buFont typeface="Calibri"/>
              <a:buNone/>
            </a:pPr>
            <a:r>
              <a:rPr lang="pt-BR" sz="9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7"/>
          <p:cNvSpPr txBox="1"/>
          <p:nvPr/>
        </p:nvSpPr>
        <p:spPr>
          <a:xfrm>
            <a:off x="457200" y="42255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Space Grotesk"/>
              <a:buNone/>
            </a:pPr>
            <a:r>
              <a:rPr b="1" i="0" lang="pt-BR" sz="2600" u="none" cap="none" strike="noStrike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Demonstração da Solução Funcionando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7"/>
          <p:cNvSpPr/>
          <p:nvPr/>
        </p:nvSpPr>
        <p:spPr>
          <a:xfrm>
            <a:off x="457200" y="1116198"/>
            <a:ext cx="8229600" cy="365700"/>
          </a:xfrm>
          <a:prstGeom prst="roundRect">
            <a:avLst>
              <a:gd fmla="val 15000" name="adj"/>
            </a:avLst>
          </a:prstGeom>
          <a:solidFill>
            <a:srgbClr val="FDED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7"/>
          <p:cNvSpPr txBox="1"/>
          <p:nvPr/>
        </p:nvSpPr>
        <p:spPr>
          <a:xfrm>
            <a:off x="594355" y="1116198"/>
            <a:ext cx="7863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pt-BR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Link do APEX:  </a:t>
            </a:r>
            <a:r>
              <a:rPr b="1" i="0" lang="pt-BR" sz="105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clique aqui para acessar nosso sistema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7"/>
          <p:cNvSpPr/>
          <p:nvPr/>
        </p:nvSpPr>
        <p:spPr>
          <a:xfrm>
            <a:off x="457200" y="1828800"/>
            <a:ext cx="2624400" cy="2943000"/>
          </a:xfrm>
          <a:prstGeom prst="roundRect">
            <a:avLst>
              <a:gd fmla="val 2182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7"/>
          <p:cNvSpPr txBox="1"/>
          <p:nvPr/>
        </p:nvSpPr>
        <p:spPr>
          <a:xfrm>
            <a:off x="594360" y="3253353"/>
            <a:ext cx="2349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pt-BR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Fila de Triagem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7"/>
          <p:cNvSpPr txBox="1"/>
          <p:nvPr/>
        </p:nvSpPr>
        <p:spPr>
          <a:xfrm>
            <a:off x="594350" y="3564525"/>
            <a:ext cx="2274900" cy="12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900"/>
              <a:buFont typeface="Calibri"/>
              <a:buNone/>
            </a:pPr>
            <a:r>
              <a:rPr b="0" i="0" lang="pt-BR" sz="1200" u="none" cap="none" strike="noStrike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Fila priorizada por score, com total de casos aguardando validação médica.</a:t>
            </a:r>
            <a:endParaRPr b="0" i="0" sz="1200" u="none" cap="none" strike="noStrike">
              <a:solidFill>
                <a:srgbClr val="5B6B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7"/>
          <p:cNvSpPr/>
          <p:nvPr/>
        </p:nvSpPr>
        <p:spPr>
          <a:xfrm>
            <a:off x="3264400" y="1828800"/>
            <a:ext cx="2624400" cy="2943000"/>
          </a:xfrm>
          <a:prstGeom prst="roundRect">
            <a:avLst>
              <a:gd fmla="val 2182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7"/>
          <p:cNvSpPr txBox="1"/>
          <p:nvPr/>
        </p:nvSpPr>
        <p:spPr>
          <a:xfrm>
            <a:off x="3401656" y="3235054"/>
            <a:ext cx="2349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pt-BR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Análise do Paciente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7"/>
          <p:cNvSpPr txBox="1"/>
          <p:nvPr/>
        </p:nvSpPr>
        <p:spPr>
          <a:xfrm>
            <a:off x="3401650" y="3551250"/>
            <a:ext cx="2670000" cy="11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900"/>
              <a:buFont typeface="Calibri"/>
              <a:buNone/>
            </a:pPr>
            <a:r>
              <a:rPr b="0" i="0" lang="pt-BR" sz="1300" u="none" cap="none" strike="noStrike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Score do paciente, sinais vitais, comorbidades e dispositivos, com alertas por cor.</a:t>
            </a:r>
            <a:endParaRPr b="0" i="0" sz="1300" u="none" cap="none" strike="noStrike">
              <a:solidFill>
                <a:srgbClr val="5B6B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7"/>
          <p:cNvSpPr/>
          <p:nvPr/>
        </p:nvSpPr>
        <p:spPr>
          <a:xfrm>
            <a:off x="6071625" y="1828800"/>
            <a:ext cx="2624400" cy="2943000"/>
          </a:xfrm>
          <a:prstGeom prst="roundRect">
            <a:avLst>
              <a:gd fmla="val 2182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7"/>
          <p:cNvSpPr txBox="1"/>
          <p:nvPr/>
        </p:nvSpPr>
        <p:spPr>
          <a:xfrm>
            <a:off x="6208951" y="3404515"/>
            <a:ext cx="2349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pt-BR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Validação Médica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7"/>
          <p:cNvSpPr txBox="1"/>
          <p:nvPr/>
        </p:nvSpPr>
        <p:spPr>
          <a:xfrm>
            <a:off x="6208950" y="3683075"/>
            <a:ext cx="2274900" cy="9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900"/>
              <a:buFont typeface="Calibri"/>
              <a:buNone/>
            </a:pPr>
            <a:r>
              <a:rPr b="0" i="0" lang="pt-BR" sz="1200" u="none" cap="none" strike="noStrike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Médico confirma, ajusta ou contesta a sugestão da IA antes de enviar ao SIRESP.</a:t>
            </a:r>
            <a:endParaRPr b="0" i="0" sz="1200" u="none" cap="none" strike="noStrike">
              <a:solidFill>
                <a:srgbClr val="5B6B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7"/>
          <p:cNvSpPr txBox="1"/>
          <p:nvPr/>
        </p:nvSpPr>
        <p:spPr>
          <a:xfrm>
            <a:off x="8549640" y="4828032"/>
            <a:ext cx="457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900"/>
              <a:buFont typeface="Calibri"/>
              <a:buNone/>
            </a:pPr>
            <a:r>
              <a:rPr lang="pt-BR" sz="9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6" name="Google Shape;29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85775" y="382850"/>
            <a:ext cx="1173600" cy="45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7" title="Captura de Tela 2026-09-13 às 20.46.16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08950" y="1972300"/>
            <a:ext cx="2367124" cy="136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7" title="WhatsApp Image 2026-09-13 at 21.04.09.jpe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4350" y="1972300"/>
            <a:ext cx="2349901" cy="116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7" title="WhatsApp Image 2026-09-13 at 21.08.39.jpe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01650" y="1972300"/>
            <a:ext cx="2349901" cy="120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8"/>
          <p:cNvSpPr txBox="1"/>
          <p:nvPr/>
        </p:nvSpPr>
        <p:spPr>
          <a:xfrm>
            <a:off x="457200" y="42255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Space Grotesk"/>
              <a:buNone/>
            </a:pPr>
            <a:r>
              <a:rPr b="1" i="0" lang="pt-BR" sz="2600" u="none" cap="none" strike="noStrike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Demonstração da Solução Funcionando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8"/>
          <p:cNvSpPr/>
          <p:nvPr/>
        </p:nvSpPr>
        <p:spPr>
          <a:xfrm>
            <a:off x="782775" y="1229650"/>
            <a:ext cx="3211500" cy="3148500"/>
          </a:xfrm>
          <a:prstGeom prst="roundRect">
            <a:avLst>
              <a:gd fmla="val 2182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8"/>
          <p:cNvSpPr txBox="1"/>
          <p:nvPr/>
        </p:nvSpPr>
        <p:spPr>
          <a:xfrm>
            <a:off x="1004025" y="2881582"/>
            <a:ext cx="23499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pt-BR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Consulta Inteligente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t/>
            </a:r>
            <a:endParaRPr b="1" i="0" sz="1250" u="none" cap="none" strike="noStrike">
              <a:solidFill>
                <a:srgbClr val="0D1B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8"/>
          <p:cNvSpPr txBox="1"/>
          <p:nvPr/>
        </p:nvSpPr>
        <p:spPr>
          <a:xfrm>
            <a:off x="1004025" y="3122200"/>
            <a:ext cx="2903100" cy="11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1000"/>
              <a:buFont typeface="Calibri"/>
              <a:buNone/>
            </a:pPr>
            <a:r>
              <a:rPr b="0" i="0" lang="pt-BR" sz="1300" u="none" cap="none" strike="noStrike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Chat via Select AI para dúvidas sobre o contexto hospitalar e temas gerais.</a:t>
            </a:r>
            <a:endParaRPr b="0" i="0" sz="1300" u="none" cap="none" strike="noStrike">
              <a:solidFill>
                <a:srgbClr val="5B6B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8"/>
          <p:cNvSpPr/>
          <p:nvPr/>
        </p:nvSpPr>
        <p:spPr>
          <a:xfrm>
            <a:off x="4577175" y="1249750"/>
            <a:ext cx="3211500" cy="3108300"/>
          </a:xfrm>
          <a:prstGeom prst="roundRect">
            <a:avLst>
              <a:gd fmla="val 2182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28"/>
          <p:cNvSpPr txBox="1"/>
          <p:nvPr/>
        </p:nvSpPr>
        <p:spPr>
          <a:xfrm>
            <a:off x="4811068" y="2776782"/>
            <a:ext cx="2349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pt-BR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Auditoria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8"/>
          <p:cNvSpPr txBox="1"/>
          <p:nvPr/>
        </p:nvSpPr>
        <p:spPr>
          <a:xfrm>
            <a:off x="4811075" y="3082779"/>
            <a:ext cx="2928300" cy="11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1000"/>
              <a:buFont typeface="Calibri"/>
              <a:buNone/>
            </a:pPr>
            <a:r>
              <a:rPr b="0" i="0" lang="pt-BR" sz="1200" u="none" cap="none" strike="noStrike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Registra sugestão da IA, decisão do médico</a:t>
            </a:r>
            <a:r>
              <a:rPr lang="pt-BR" sz="12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, sua</a:t>
            </a:r>
            <a:r>
              <a:rPr b="0" i="0" lang="pt-BR" sz="1200" u="none" cap="none" strike="noStrike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 justificativa</a:t>
            </a:r>
            <a:r>
              <a:rPr lang="pt-BR" sz="12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 e</a:t>
            </a:r>
            <a:r>
              <a:rPr b="0" i="0" lang="pt-BR" sz="1200" u="none" cap="none" strike="noStrike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 remove o paciente da triagem.</a:t>
            </a:r>
            <a:endParaRPr b="0" i="0" sz="1200" u="none" cap="none" strike="noStrike">
              <a:solidFill>
                <a:srgbClr val="5B6B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8"/>
          <p:cNvSpPr txBox="1"/>
          <p:nvPr/>
        </p:nvSpPr>
        <p:spPr>
          <a:xfrm>
            <a:off x="8549640" y="4828032"/>
            <a:ext cx="457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900"/>
              <a:buFont typeface="Calibri"/>
              <a:buNone/>
            </a:pPr>
            <a:r>
              <a:rPr lang="pt-BR" sz="9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3" name="Google Shape;313;p28" title="Captura de Tela 2026-09-12 às 18.05.2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8250" y="1402875"/>
            <a:ext cx="2928251" cy="127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85775" y="382850"/>
            <a:ext cx="1173600" cy="45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8" title="Captura de Tela 2026-09-13 às 20.19.41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31350" y="1402875"/>
            <a:ext cx="2903148" cy="127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9"/>
          <p:cNvSpPr txBox="1"/>
          <p:nvPr/>
        </p:nvSpPr>
        <p:spPr>
          <a:xfrm>
            <a:off x="457200" y="42255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Space Grotesk"/>
              <a:buNone/>
            </a:pPr>
            <a:r>
              <a:rPr b="1" i="0" lang="pt-BR" sz="2600" u="none" cap="none" strike="noStrike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Demonstração da Solução Funcionando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9"/>
          <p:cNvSpPr/>
          <p:nvPr/>
        </p:nvSpPr>
        <p:spPr>
          <a:xfrm>
            <a:off x="726450" y="1217500"/>
            <a:ext cx="2977200" cy="2829300"/>
          </a:xfrm>
          <a:prstGeom prst="roundRect">
            <a:avLst>
              <a:gd fmla="val 2182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9"/>
          <p:cNvSpPr txBox="1"/>
          <p:nvPr/>
        </p:nvSpPr>
        <p:spPr>
          <a:xfrm>
            <a:off x="894825" y="2866910"/>
            <a:ext cx="23499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pt-BR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t/>
            </a:r>
            <a:endParaRPr b="1" i="0" sz="1250" u="none" cap="none" strike="noStrike">
              <a:solidFill>
                <a:srgbClr val="0D1B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9"/>
          <p:cNvSpPr txBox="1"/>
          <p:nvPr/>
        </p:nvSpPr>
        <p:spPr>
          <a:xfrm>
            <a:off x="908250" y="3041650"/>
            <a:ext cx="2613600" cy="9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900"/>
              <a:buFont typeface="Calibri"/>
              <a:buNone/>
            </a:pPr>
            <a:r>
              <a:rPr b="0" i="0" lang="pt-BR" sz="1200" u="none" cap="none" strike="noStrike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Distribuição de patologias, perfil dos pacientes, permanência média e ocupação por unidade.</a:t>
            </a:r>
            <a:endParaRPr b="0" i="0" sz="1200" u="none" cap="none" strike="noStrike">
              <a:solidFill>
                <a:srgbClr val="5B6B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9"/>
          <p:cNvSpPr/>
          <p:nvPr/>
        </p:nvSpPr>
        <p:spPr>
          <a:xfrm>
            <a:off x="4709399" y="1229650"/>
            <a:ext cx="2977200" cy="2805000"/>
          </a:xfrm>
          <a:prstGeom prst="roundRect">
            <a:avLst>
              <a:gd fmla="val 2182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29"/>
          <p:cNvSpPr txBox="1"/>
          <p:nvPr/>
        </p:nvSpPr>
        <p:spPr>
          <a:xfrm>
            <a:off x="4884318" y="2891678"/>
            <a:ext cx="2349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pt-BR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Novo Prontuário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9"/>
          <p:cNvSpPr txBox="1"/>
          <p:nvPr/>
        </p:nvSpPr>
        <p:spPr>
          <a:xfrm>
            <a:off x="4884375" y="3181375"/>
            <a:ext cx="2597100" cy="7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900"/>
              <a:buFont typeface="Calibri"/>
              <a:buNone/>
            </a:pPr>
            <a:r>
              <a:rPr b="0" i="0" lang="pt-BR" sz="1200" u="none" cap="none" strike="noStrike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Cadastro de novos prontuários, que entram direto na fila de triagem.</a:t>
            </a:r>
            <a:endParaRPr b="0" i="0" sz="1200" u="none" cap="none" strike="noStrike">
              <a:solidFill>
                <a:srgbClr val="5B6B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9"/>
          <p:cNvSpPr txBox="1"/>
          <p:nvPr/>
        </p:nvSpPr>
        <p:spPr>
          <a:xfrm>
            <a:off x="513550" y="4338938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54000" lvl="0" marL="2286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5B6B7F"/>
              </a:buClr>
              <a:buSzPts val="1400"/>
              <a:buFont typeface="Arial"/>
              <a:buChar char="•"/>
            </a:pPr>
            <a:r>
              <a:rPr b="1" i="0" lang="pt-BR" u="none" cap="none" strike="noStrike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Uso real: </a:t>
            </a:r>
            <a:r>
              <a:rPr b="0" i="0" lang="pt-BR" u="none" cap="none" strike="noStrike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reguladores da CROSS acessam diariamente, priorizam por score e registram a decisão</a:t>
            </a:r>
            <a:r>
              <a:rPr lang="pt-BR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, tendo </a:t>
            </a:r>
            <a:r>
              <a:rPr b="0" i="0" lang="pt-BR" u="none" cap="none" strike="noStrike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validação humana sempre obrigatória</a:t>
            </a:r>
            <a:endParaRPr b="0" i="0" u="none" cap="none" strike="noStrike">
              <a:solidFill>
                <a:srgbClr val="5B6B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8549640" y="4828032"/>
            <a:ext cx="457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900"/>
              <a:buFont typeface="Calibri"/>
              <a:buNone/>
            </a:pPr>
            <a:r>
              <a:rPr lang="pt-BR" sz="9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0" name="Google Shape;330;p29" title="Captura de Tela 2026-09-12 às 18.10.1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84325" y="1402875"/>
            <a:ext cx="2642202" cy="141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85775" y="382850"/>
            <a:ext cx="1173600" cy="45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29" title="Captura de Tela 2026-09-13 às 20.18.21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3950" y="1372851"/>
            <a:ext cx="2642202" cy="13636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0"/>
          <p:cNvSpPr txBox="1"/>
          <p:nvPr/>
        </p:nvSpPr>
        <p:spPr>
          <a:xfrm>
            <a:off x="457200" y="387225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Space Grotesk"/>
              <a:buNone/>
            </a:pPr>
            <a:r>
              <a:rPr b="1" lang="pt-BR" sz="2600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Limites </a:t>
            </a:r>
            <a:r>
              <a:rPr b="1" lang="pt-BR" sz="2600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enfrentados</a:t>
            </a:r>
            <a:r>
              <a:rPr b="1" lang="pt-BR" sz="2600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 e </a:t>
            </a:r>
            <a:r>
              <a:rPr b="1" lang="pt-BR" sz="2600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próximos</a:t>
            </a:r>
            <a:r>
              <a:rPr b="1" lang="pt-BR" sz="2600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 passos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30"/>
          <p:cNvSpPr/>
          <p:nvPr/>
        </p:nvSpPr>
        <p:spPr>
          <a:xfrm>
            <a:off x="457225" y="1339575"/>
            <a:ext cx="7491000" cy="3257100"/>
          </a:xfrm>
          <a:prstGeom prst="roundRect">
            <a:avLst>
              <a:gd fmla="val 4667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30"/>
          <p:cNvSpPr txBox="1"/>
          <p:nvPr/>
        </p:nvSpPr>
        <p:spPr>
          <a:xfrm>
            <a:off x="660325" y="1585250"/>
            <a:ext cx="6963900" cy="28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E07A5F"/>
                </a:solidFill>
                <a:latin typeface="Calibri"/>
                <a:ea typeface="Calibri"/>
                <a:cs typeface="Calibri"/>
                <a:sym typeface="Calibri"/>
              </a:rPr>
              <a:t>Limites enfrentados: </a:t>
            </a:r>
            <a:endParaRPr sz="1300">
              <a:solidFill>
                <a:srgbClr val="E07A5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5B6B7F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1200"/>
              <a:buChar char="●"/>
            </a:pPr>
            <a:r>
              <a:rPr b="1" lang="pt-BR" sz="1200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Validação do Fluxo:</a:t>
            </a:r>
            <a:r>
              <a:rPr lang="pt-BR" sz="1200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 Realizada com dados históricos do SUS por questões de privacidade e sensibilidade dos dados, sem uso direto de sistemas hospitalares (HIS/PEP).</a:t>
            </a:r>
            <a:endParaRPr sz="1200">
              <a:solidFill>
                <a:srgbClr val="415A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1300"/>
              <a:buFont typeface="Calibri"/>
              <a:buChar char="●"/>
            </a:pPr>
            <a:r>
              <a:rPr b="1" lang="pt-BR" sz="1200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Testes de Integração (SIRESP):</a:t>
            </a:r>
            <a:r>
              <a:rPr lang="pt-BR" sz="1200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 Não homologados nesta etapa, pois exigem a implantação prévia do sistema em ambiente produtivo hospitalar.</a:t>
            </a:r>
            <a:endParaRPr sz="1200">
              <a:solidFill>
                <a:srgbClr val="415A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5B6B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00">
                <a:solidFill>
                  <a:srgbClr val="E07A5F"/>
                </a:solidFill>
                <a:latin typeface="Calibri"/>
                <a:ea typeface="Calibri"/>
                <a:cs typeface="Calibri"/>
                <a:sym typeface="Calibri"/>
              </a:rPr>
              <a:t>Próximos</a:t>
            </a:r>
            <a:r>
              <a:rPr lang="pt-BR" sz="1300">
                <a:solidFill>
                  <a:srgbClr val="E07A5F"/>
                </a:solidFill>
                <a:latin typeface="Calibri"/>
                <a:ea typeface="Calibri"/>
                <a:cs typeface="Calibri"/>
                <a:sym typeface="Calibri"/>
              </a:rPr>
              <a:t> passos: </a:t>
            </a:r>
            <a:endParaRPr sz="1300">
              <a:solidFill>
                <a:srgbClr val="E07A5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E07A5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1200"/>
              <a:buFont typeface="Calibri"/>
              <a:buChar char="●"/>
            </a:pPr>
            <a:r>
              <a:rPr lang="pt-BR" sz="1200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Transição para integração em tempo real no padrão FHIR e o desenvolvimento de conexão via API com o sistema CROSS/SIRESP.</a:t>
            </a:r>
            <a:endParaRPr sz="1200">
              <a:solidFill>
                <a:srgbClr val="415A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1200"/>
              <a:buFont typeface="Calibri"/>
              <a:buChar char="●"/>
            </a:pPr>
            <a:r>
              <a:rPr lang="pt-BR" sz="1200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Expansão dos estudos para outras patologias que causam ocupações evitáveis de leitos para otimizar a gestão hospitalar.</a:t>
            </a:r>
            <a:endParaRPr sz="900">
              <a:solidFill>
                <a:srgbClr val="415A7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30"/>
          <p:cNvSpPr txBox="1"/>
          <p:nvPr/>
        </p:nvSpPr>
        <p:spPr>
          <a:xfrm>
            <a:off x="8549640" y="482803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900"/>
              <a:buFont typeface="Calibri"/>
              <a:buNone/>
            </a:pPr>
            <a:r>
              <a:rPr lang="pt-BR" sz="9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900" u="none" cap="none" strike="noStrike">
              <a:solidFill>
                <a:srgbClr val="5B6B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2" name="Google Shape;34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76050" y="404400"/>
            <a:ext cx="1173600" cy="45515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0"/>
          <p:cNvSpPr/>
          <p:nvPr/>
        </p:nvSpPr>
        <p:spPr>
          <a:xfrm>
            <a:off x="457200" y="834900"/>
            <a:ext cx="5401800" cy="444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1"/>
          <p:cNvSpPr/>
          <p:nvPr/>
        </p:nvSpPr>
        <p:spPr>
          <a:xfrm>
            <a:off x="445972" y="1304073"/>
            <a:ext cx="7653300" cy="3321000"/>
          </a:xfrm>
          <a:prstGeom prst="roundRect">
            <a:avLst>
              <a:gd fmla="val 2581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DEDE7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31"/>
          <p:cNvSpPr txBox="1"/>
          <p:nvPr/>
        </p:nvSpPr>
        <p:spPr>
          <a:xfrm>
            <a:off x="782272" y="1464273"/>
            <a:ext cx="6980700" cy="30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54000" lvl="0" marL="2286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Arial"/>
              <a:buChar char="•"/>
            </a:pPr>
            <a:r>
              <a:rPr b="1" i="0" lang="pt-BR" sz="17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Camada inteligente, não substituta: </a:t>
            </a:r>
            <a:r>
              <a:rPr i="0" lang="pt-BR" sz="17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não altera prontuários, SIRESP ou CROSS</a:t>
            </a:r>
            <a:r>
              <a:rPr lang="pt-BR" sz="17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i="0" lang="pt-BR" sz="17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ele conecta os sistemas já usados pelo SUS</a:t>
            </a:r>
            <a:endParaRPr i="0" sz="1700" u="none" cap="none" strike="noStrike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286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Arial"/>
              <a:buChar char="•"/>
            </a:pPr>
            <a:r>
              <a:rPr b="1" i="0" lang="pt-BR" sz="17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Transforma dados dispersos </a:t>
            </a:r>
            <a:r>
              <a:rPr i="0" lang="pt-BR" sz="17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em prioridades claras de ação, agilizando alta ou o nível de atenção adequado</a:t>
            </a:r>
            <a:endParaRPr sz="1700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286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Arial"/>
              <a:buChar char="•"/>
            </a:pPr>
            <a:r>
              <a:rPr lang="pt-BR" sz="172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lang="pt-BR" sz="172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validação humana</a:t>
            </a:r>
            <a:r>
              <a:rPr lang="pt-BR" sz="172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obrigatória é o que torna a IA aceitável em um fluxo clínico real, e um motor de scoring auditável é essencial para conquistar a confiança do médico regulador.</a:t>
            </a:r>
            <a:endParaRPr sz="1720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286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Arial"/>
              <a:buChar char="•"/>
            </a:pPr>
            <a:r>
              <a:rPr b="1" lang="pt-BR" sz="17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Resultado: </a:t>
            </a:r>
            <a:r>
              <a:rPr lang="pt-BR" sz="17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maior rotatividade de leitos, menos superlotação e custos operacionais reduzidos</a:t>
            </a:r>
            <a:endParaRPr sz="1720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D1B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31"/>
          <p:cNvSpPr txBox="1"/>
          <p:nvPr/>
        </p:nvSpPr>
        <p:spPr>
          <a:xfrm>
            <a:off x="8549640" y="4828032"/>
            <a:ext cx="457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900"/>
              <a:buFont typeface="Calibri"/>
              <a:buNone/>
            </a:pPr>
            <a:r>
              <a:rPr lang="pt-BR" sz="9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2" name="Google Shape;35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21650" y="400325"/>
            <a:ext cx="1173600" cy="45515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31"/>
          <p:cNvSpPr txBox="1"/>
          <p:nvPr/>
        </p:nvSpPr>
        <p:spPr>
          <a:xfrm>
            <a:off x="457200" y="387225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Space Grotesk"/>
              <a:buNone/>
            </a:pPr>
            <a:r>
              <a:rPr b="1" i="0" lang="pt-BR" sz="2600" u="none" cap="none" strike="noStrike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DataCross Conecta Dados e Salva Vidas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31"/>
          <p:cNvSpPr/>
          <p:nvPr/>
        </p:nvSpPr>
        <p:spPr>
          <a:xfrm>
            <a:off x="457200" y="834900"/>
            <a:ext cx="5401800" cy="444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logo.png" id="360" name="Google Shape;36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92520"/>
            <a:ext cx="1554480" cy="382933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32"/>
          <p:cNvSpPr txBox="1"/>
          <p:nvPr/>
        </p:nvSpPr>
        <p:spPr>
          <a:xfrm>
            <a:off x="457191" y="1002394"/>
            <a:ext cx="2357700" cy="9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FC0D6"/>
              </a:buClr>
              <a:buSzPts val="1250"/>
              <a:buFont typeface="Calibri"/>
              <a:buNone/>
            </a:pPr>
            <a:r>
              <a:rPr b="1" i="0" lang="pt-BR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Vídeo demonstrando o fluxo completo do DataCross, da análise dos prontuários à validação médica.</a:t>
            </a:r>
            <a:endParaRPr b="1" i="0" u="none" cap="none" strike="noStrike">
              <a:solidFill>
                <a:srgbClr val="E2E8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2"/>
          <p:cNvSpPr/>
          <p:nvPr/>
        </p:nvSpPr>
        <p:spPr>
          <a:xfrm>
            <a:off x="3661954" y="2385958"/>
            <a:ext cx="2033700" cy="1974900"/>
          </a:xfrm>
          <a:prstGeom prst="roundRect">
            <a:avLst>
              <a:gd fmla="val 4564" name="adj"/>
            </a:avLst>
          </a:pr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32"/>
          <p:cNvSpPr txBox="1"/>
          <p:nvPr/>
        </p:nvSpPr>
        <p:spPr>
          <a:xfrm>
            <a:off x="8549640" y="482803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900"/>
              <a:buFont typeface="Calibri"/>
              <a:buNone/>
            </a:pPr>
            <a:r>
              <a:rPr b="0" i="0" lang="pt-BR" sz="900" u="none" cap="none" strike="noStrike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pt-BR" sz="9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2"/>
          <p:cNvSpPr txBox="1"/>
          <p:nvPr/>
        </p:nvSpPr>
        <p:spPr>
          <a:xfrm>
            <a:off x="6380788" y="906394"/>
            <a:ext cx="23577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FC0D6"/>
              </a:buClr>
              <a:buSzPts val="1250"/>
              <a:buFont typeface="Calibri"/>
              <a:buNone/>
            </a:pPr>
            <a:r>
              <a:rPr b="1" i="0" lang="pt-BR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pt-BR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1" i="0" lang="pt-BR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epositório oficial, onde você encontrará a íntegra dos códigos-fontes e a documentação técnica do projeto.</a:t>
            </a:r>
            <a:endParaRPr b="1" i="0" sz="1300" u="none" cap="none" strike="noStrike">
              <a:solidFill>
                <a:srgbClr val="E2E8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5" name="Google Shape;365;p32" title="websit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51817" y="2446433"/>
            <a:ext cx="1853975" cy="1853975"/>
          </a:xfrm>
          <a:prstGeom prst="rect">
            <a:avLst/>
          </a:prstGeom>
          <a:solidFill>
            <a:srgbClr val="E07A5F"/>
          </a:solidFill>
          <a:ln>
            <a:noFill/>
          </a:ln>
        </p:spPr>
      </p:pic>
      <p:sp>
        <p:nvSpPr>
          <p:cNvPr id="366" name="Google Shape;366;p32"/>
          <p:cNvSpPr txBox="1"/>
          <p:nvPr/>
        </p:nvSpPr>
        <p:spPr>
          <a:xfrm>
            <a:off x="3744806" y="1002381"/>
            <a:ext cx="1706100" cy="9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FC0D6"/>
              </a:buClr>
              <a:buSzPts val="1250"/>
              <a:buFont typeface="Calibri"/>
              <a:buNone/>
            </a:pPr>
            <a:r>
              <a:rPr b="1" lang="pt-BR" sz="15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Nosso projeto no Oracle apex</a:t>
            </a:r>
            <a:r>
              <a:rPr b="1" lang="pt-BR" sz="1500">
                <a:solidFill>
                  <a:srgbClr val="AFC0D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i="0" sz="1500" u="none" cap="none" strike="noStrike">
              <a:solidFill>
                <a:srgbClr val="AFC0D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2"/>
          <p:cNvSpPr/>
          <p:nvPr/>
        </p:nvSpPr>
        <p:spPr>
          <a:xfrm>
            <a:off x="691227" y="2421656"/>
            <a:ext cx="2033700" cy="1974900"/>
          </a:xfrm>
          <a:prstGeom prst="roundRect">
            <a:avLst>
              <a:gd fmla="val 4564" name="adj"/>
            </a:avLst>
          </a:pr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32"/>
          <p:cNvSpPr/>
          <p:nvPr/>
        </p:nvSpPr>
        <p:spPr>
          <a:xfrm>
            <a:off x="6530061" y="2394103"/>
            <a:ext cx="2033700" cy="1974900"/>
          </a:xfrm>
          <a:prstGeom prst="roundRect">
            <a:avLst>
              <a:gd fmla="val 4564" name="adj"/>
            </a:avLst>
          </a:pr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9" name="Google Shape;369;p32" title="website-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3619" y="2502465"/>
            <a:ext cx="1824575" cy="182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32" title="website-3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32676" y="2458014"/>
            <a:ext cx="1853975" cy="1853975"/>
          </a:xfrm>
          <a:prstGeom prst="rect">
            <a:avLst/>
          </a:prstGeom>
          <a:solidFill>
            <a:srgbClr val="E07A5F"/>
          </a:solidFill>
          <a:ln>
            <a:noFill/>
          </a:ln>
        </p:spPr>
      </p:pic>
      <p:sp>
        <p:nvSpPr>
          <p:cNvPr id="371" name="Google Shape;371;p32"/>
          <p:cNvSpPr txBox="1"/>
          <p:nvPr/>
        </p:nvSpPr>
        <p:spPr>
          <a:xfrm>
            <a:off x="423400" y="4637545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7A5F"/>
              </a:buClr>
              <a:buSzPts val="1000"/>
              <a:buFont typeface="Calibri"/>
              <a:buNone/>
            </a:pPr>
            <a:r>
              <a:rPr b="0" i="1" lang="pt-BR" sz="1200" u="none" cap="none" strike="noStrike">
                <a:solidFill>
                  <a:srgbClr val="E07A5F"/>
                </a:solidFill>
                <a:latin typeface="Calibri"/>
                <a:ea typeface="Calibri"/>
                <a:cs typeface="Calibri"/>
                <a:sym typeface="Calibri"/>
              </a:rPr>
              <a:t>Agradecemos à equipe da Oracle e aos professores da FIAP pelo suporte técnico e estratégico.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