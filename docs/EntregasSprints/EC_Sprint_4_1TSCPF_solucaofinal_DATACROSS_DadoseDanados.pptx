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5143500" cy="9144000"/>
  <p:embeddedFontLst>
    <p:embeddedFont>
      <p:font typeface="Plus Jakarta Sans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yPrgfXwKlokxErp/BjhqC1cDU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29F62F-F4EC-4B69-A051-341880A56FE6}">
  <a:tblStyle styleId="{6029F62F-F4EC-4B69-A051-341880A56FE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PlusJakartaSans-regular.fntdata"/><Relationship Id="rId25" Type="http://schemas.openxmlformats.org/officeDocument/2006/relationships/slide" Target="slides/slide18.xml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PlusJakartaSa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7ef08543_4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g3fa7ef08543_4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a7ef08543_4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7ef08543_2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fa7ef08543_2_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a7ef08543_2_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3da4493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fb3da4493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b3da4493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7ef08543_2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fa7ef08543_2_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a7ef08543_2_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7ef08543_2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fa7ef08543_2_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a7ef08543_2_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8d3f5ab08_1_7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8d3f5ab08_1_75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8d3f5ab08_1_12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8d3f5ab08_1_129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8d3f5ab08_1_17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f8d3f5ab08_1_176:notes"/>
          <p:cNvSpPr/>
          <p:nvPr>
            <p:ph idx="2" type="sldImg"/>
          </p:nvPr>
        </p:nvSpPr>
        <p:spPr>
          <a:xfrm>
            <a:off x="857419" y="685800"/>
            <a:ext cx="3429169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a7ef08543_2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3fa7ef08543_2_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a7ef08543_2_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aac79f39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3faac79f39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faac79f395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a7ef08543_2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fa7ef08543_2_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fa7ef08543_2_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aac79f395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faac79f395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aac79f395_1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a7ef08543_2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fa7ef08543_2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fa7ef08543_2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aac79f395_1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faac79f395_1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faac79f395_1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b3a4baa8f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g3fb3a4baa8f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fb3a4baa8f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fa7ef08543_2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fa7ef08543_2_1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fa7ef08543_2_1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aac79f395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faac79f395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faac79f395_1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a7ef08543_2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fa7ef08543_2_1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fa7ef08543_2_1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8d3f5ab08_1_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g3f8d3f5ab08_1_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g3f8d3f5ab08_1_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8d3f5ab08_1_10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g3f8d3f5ab08_1_10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g3f8d3f5ab08_1_1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g3f8d3f5ab08_1_1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g3f8d3f5ab08_1_1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8d3f5ab08_1_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g3f8d3f5ab08_1_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g3f8d3f5ab08_1_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g3f8d3f5ab08_1_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g3f8d3f5ab08_1_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8d3f5ab08_1_22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g3f8d3f5ab08_1_22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g3f8d3f5ab08_1_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g3f8d3f5ab08_1_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g3f8d3f5ab08_1_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8d3f5ab08_1_2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g3f8d3f5ab08_1_2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0" name="Google Shape;40;g3f8d3f5ab08_1_2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41" name="Google Shape;41;g3f8d3f5ab08_1_2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g3f8d3f5ab08_1_2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g3f8d3f5ab08_1_2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8d3f5ab08_1_35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g3f8d3f5ab08_1_35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g3f8d3f5ab08_1_35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8" name="Google Shape;48;g3f8d3f5ab08_1_35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g3f8d3f5ab08_1_35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50" name="Google Shape;50;g3f8d3f5ab08_1_3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g3f8d3f5ab08_1_3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g3f8d3f5ab08_1_3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8d3f5ab08_1_44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g3f8d3f5ab08_1_4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g3f8d3f5ab08_1_4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g3f8d3f5ab08_1_4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8d3f5ab08_1_49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3f8d3f5ab08_1_49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g3f8d3f5ab08_1_49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2" name="Google Shape;62;g3f8d3f5ab08_1_4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3f8d3f5ab08_1_4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g3f8d3f5ab08_1_4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8d3f5ab08_1_56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g3f8d3f5ab08_1_56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g3f8d3f5ab08_1_56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9" name="Google Shape;69;g3f8d3f5ab08_1_5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g3f8d3f5ab08_1_5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g3f8d3f5ab08_1_5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d3f5ab08_1_6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3f8d3f5ab08_1_6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g3f8d3f5ab08_1_6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g3f8d3f5ab08_1_6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g3f8d3f5ab08_1_6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8d3f5ab08_1_69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g3f8d3f5ab08_1_69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g3f8d3f5ab08_1_6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3f8d3f5ab08_1_6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g3f8d3f5ab08_1_6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8d3f5ab08_1_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g3f8d3f5ab08_1_0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f8d3f5ab08_1_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f8d3f5ab08_1_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f8d3f5ab08_1_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hyperlink" Target="https://tabnet.datasus.gov.br/cgi/sih/Proced_hosp_loc_int_2008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hyperlink" Target="https://tabnet.datasus.gov.br/cgi/sih/Proced_hosp_loc_int_2008.pdf" TargetMode="External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hyperlink" Target="https://tabnet.datasus.gov.br/cgi/sih/Proced_hosp_loc_int_2008.pdf" TargetMode="External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d08059524f2489-paineldados.adb.sa-saopaulo-1.oraclecloudapps.com/ords/r/datacross/datacross/home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5.jpg"/><Relationship Id="rId7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4392T27Yg_Q" TargetMode="External"/><Relationship Id="rId5" Type="http://schemas.openxmlformats.org/officeDocument/2006/relationships/hyperlink" Target="https://youtu.be/d50cw0euP3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hyperlink" Target="https://github.com/BiaFalasca/DataCross-Challenge-Oracl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a7ef08543_4_0"/>
          <p:cNvSpPr/>
          <p:nvPr/>
        </p:nvSpPr>
        <p:spPr>
          <a:xfrm>
            <a:off x="354225" y="811650"/>
            <a:ext cx="43434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627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4145"/>
              <a:buFont typeface="Space Grotesk"/>
              <a:buNone/>
            </a:pPr>
            <a:r>
              <a:rPr b="1" i="0" lang="en-US" sz="414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</a:t>
            </a:r>
            <a:endParaRPr b="0" i="0" sz="41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fa7ef08543_4_0"/>
          <p:cNvSpPr/>
          <p:nvPr/>
        </p:nvSpPr>
        <p:spPr>
          <a:xfrm>
            <a:off x="354225" y="1604700"/>
            <a:ext cx="59292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135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924"/>
              <a:buFont typeface="Space Grotesk"/>
              <a:buNone/>
            </a:pPr>
            <a:r>
              <a:rPr b="0" i="0" lang="en-US" sz="1924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Plataforma Inteligente para rotatividade de leitos</a:t>
            </a:r>
            <a:endParaRPr b="0" i="0" sz="1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fa7ef08543_4_0"/>
          <p:cNvSpPr/>
          <p:nvPr/>
        </p:nvSpPr>
        <p:spPr>
          <a:xfrm>
            <a:off x="383023" y="3591800"/>
            <a:ext cx="188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5"/>
              <a:buFont typeface="Space Grotesk"/>
              <a:buNone/>
            </a:pPr>
            <a:r>
              <a:rPr b="1" i="0" lang="en-US" sz="88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Equipe:</a:t>
            </a:r>
            <a:r>
              <a:rPr b="0" i="0" lang="en-US" sz="9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Dados e Danados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a7ef08543_4_0"/>
          <p:cNvSpPr/>
          <p:nvPr/>
        </p:nvSpPr>
        <p:spPr>
          <a:xfrm>
            <a:off x="383025" y="3854271"/>
            <a:ext cx="54354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5"/>
              <a:buFont typeface="Space Grotesk"/>
              <a:buNone/>
            </a:pPr>
            <a:r>
              <a:rPr b="1" i="0" lang="en-US" sz="88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Integrantes:</a:t>
            </a:r>
            <a:r>
              <a:rPr b="0" i="0" lang="en-US" sz="9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Beatriz Falasca (RM 570086), Felipe Lessa (RM 570626), Gabriel Rodrigues (RM 568762), Gabrielle Trindade (RM 569092) e Maria Eduarda Rodrigues (RM 572951)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fa7ef08543_4_0"/>
          <p:cNvSpPr/>
          <p:nvPr/>
        </p:nvSpPr>
        <p:spPr>
          <a:xfrm>
            <a:off x="383028" y="4631138"/>
            <a:ext cx="4343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100"/>
              <a:buFont typeface="Calibri"/>
              <a:buNone/>
            </a:pPr>
            <a:r>
              <a:rPr i="1" lang="en-US" sz="1000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Challenge Oracle · FIAP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fa7ef08543_4_0"/>
          <p:cNvSpPr/>
          <p:nvPr/>
        </p:nvSpPr>
        <p:spPr>
          <a:xfrm>
            <a:off x="6392900" y="0"/>
            <a:ext cx="2864700" cy="52035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fa7ef08543_4_0"/>
          <p:cNvSpPr/>
          <p:nvPr/>
        </p:nvSpPr>
        <p:spPr>
          <a:xfrm>
            <a:off x="383023" y="3353195"/>
            <a:ext cx="188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5"/>
              <a:buFont typeface="Space Grotesk"/>
              <a:buNone/>
            </a:pPr>
            <a:r>
              <a:rPr b="1" i="0" lang="en-US" sz="885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Turma:</a:t>
            </a:r>
            <a:r>
              <a:rPr b="0" i="0" lang="en-US" sz="942" u="none" cap="none" strike="noStrike">
                <a:solidFill>
                  <a:srgbClr val="415A77"/>
                </a:solidFill>
                <a:latin typeface="Space Grotesk"/>
                <a:ea typeface="Space Grotesk"/>
                <a:cs typeface="Space Grotesk"/>
                <a:sym typeface="Space Grotesk"/>
              </a:rPr>
              <a:t>  1TSCPF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a7ef08543_4_0"/>
          <p:cNvSpPr/>
          <p:nvPr/>
        </p:nvSpPr>
        <p:spPr>
          <a:xfrm>
            <a:off x="383025" y="1440449"/>
            <a:ext cx="4106400" cy="44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g3fa7ef08543_4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1125" y="1967275"/>
            <a:ext cx="2588250" cy="731525"/>
          </a:xfrm>
          <a:prstGeom prst="rect">
            <a:avLst/>
          </a:prstGeom>
          <a:solidFill>
            <a:srgbClr val="0D1B2A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a7ef08543_2_16"/>
          <p:cNvSpPr txBox="1"/>
          <p:nvPr/>
        </p:nvSpPr>
        <p:spPr>
          <a:xfrm>
            <a:off x="355725" y="34747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7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fa7ef08543_2_16"/>
          <p:cNvSpPr txBox="1"/>
          <p:nvPr/>
        </p:nvSpPr>
        <p:spPr>
          <a:xfrm>
            <a:off x="355725" y="745182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300"/>
              <a:buFont typeface="Calibri"/>
              <a:buNone/>
            </a:pPr>
            <a:r>
              <a:rPr b="0" i="1" lang="en-US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Plataforma Inteligente para Rotatividade de Leitos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fa7ef08543_2_16"/>
          <p:cNvSpPr/>
          <p:nvPr/>
        </p:nvSpPr>
        <p:spPr>
          <a:xfrm>
            <a:off x="355725" y="1326375"/>
            <a:ext cx="7653300" cy="3381900"/>
          </a:xfrm>
          <a:prstGeom prst="roundRect">
            <a:avLst>
              <a:gd fmla="val 258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DEDE7"/>
              </a:highlight>
            </a:endParaRPr>
          </a:p>
        </p:txBody>
      </p:sp>
      <p:sp>
        <p:nvSpPr>
          <p:cNvPr id="106" name="Google Shape;106;g3fa7ef08543_2_16"/>
          <p:cNvSpPr txBox="1"/>
          <p:nvPr/>
        </p:nvSpPr>
        <p:spPr>
          <a:xfrm>
            <a:off x="528075" y="1521794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en-US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SOLUÇÃO FINAL: DESCRIÇÃO RESUMIDA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g3fa7ef08543_2_16"/>
          <p:cNvSpPr txBox="1"/>
          <p:nvPr/>
        </p:nvSpPr>
        <p:spPr>
          <a:xfrm>
            <a:off x="574200" y="2006750"/>
            <a:ext cx="71715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 DataCross é um sistema de apoio à decisão clínica baseado em Processamento de Linguagem Natural (PLN) que lê prontuários eletrônicos, identifica pacientes com internação prolongada sem necessidade clínica e agiliza sua alta ou transferência. A solução conecta-se às bases já usadas pelo SUS (DATASUS, CNES e SIRESP) e à CROSS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Central de Regulação de Ofertas de Serviços de Saúde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transformando dados hoje pouco explorados em decisões mais rápidas e seguras sobre o fluxo de leitos.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Na versão final, evoluímos de uma proposta de automação de processos para um verdadeiro Sistema de Suporte à Decisão Clínica (CDSS): a IA sugere a elegibilidade de alta/trans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ferência ou manutenção da internação com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com base no score produzido pel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 grupo</a:t>
            </a:r>
            <a:r>
              <a:rPr b="0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, mas a decisão é sempre validada por um profissional antes de qualquer movimentação no SIRESP.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MVP direcionamos o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esforço</a:t>
            </a:r>
            <a:r>
              <a:rPr lang="en-US" sz="97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técnico às três patologias de maior volume e maior potencial de ganho em rotatividade de leito: AVC, ITU e pneumonia.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g3fa7ef08543_2_16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g3fa7ef08543_2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1650" y="400325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b3da44936_0_0"/>
          <p:cNvSpPr txBox="1"/>
          <p:nvPr/>
        </p:nvSpPr>
        <p:spPr>
          <a:xfrm>
            <a:off x="365650" y="3765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lang="en-US" sz="24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Nosso diferencial e </a:t>
            </a:r>
            <a:r>
              <a:rPr b="1" lang="en-US" sz="24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benefícios</a:t>
            </a:r>
            <a:r>
              <a:rPr b="1" lang="en-US" sz="24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gerados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g3fb3da44936_0_0"/>
          <p:cNvSpPr/>
          <p:nvPr/>
        </p:nvSpPr>
        <p:spPr>
          <a:xfrm>
            <a:off x="333300" y="1191175"/>
            <a:ext cx="7653300" cy="3479100"/>
          </a:xfrm>
          <a:prstGeom prst="roundRect">
            <a:avLst>
              <a:gd fmla="val 258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DEDE7"/>
              </a:highlight>
            </a:endParaRPr>
          </a:p>
        </p:txBody>
      </p:sp>
      <p:sp>
        <p:nvSpPr>
          <p:cNvPr id="117" name="Google Shape;117;g3fb3da44936_0_0"/>
          <p:cNvSpPr txBox="1"/>
          <p:nvPr/>
        </p:nvSpPr>
        <p:spPr>
          <a:xfrm>
            <a:off x="630300" y="1488925"/>
            <a:ext cx="6980700" cy="28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 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DataCross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não substitui e nem exige alterações nos sistemas já utilizados pelo SUS (como prontuários, SIRESP e CROSS),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nosso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projeto funciona como uma camada inteligente integrada t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ransformando dados clínicos dispersos em prioridades claras de ação, a solução agiliza o direcionamento para a alta ou para o nível de atenção mais adequado.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Dessa forma, o diferencial do DataCross não está em substituir as ferramentas já utilizadas pelo SUS mas em conectá-las e transformar seus dados em informações acionáveis, permitindo uma gestão mais integrada, ágil e eficiente dos pacientes e dos leitos.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5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Como resultado, o sistema aumenta a rotatividade e o aproveitamento dos leitos existentes, reduz a superlotação e potencialmente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diminui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custos operacionais. 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Além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disso protege os pacientes dos riscos associados a permanências hospitalares prolongadas e evitáveis, mantendo sempre a decisão final sob a responsabilidade do profissional de saúde.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3fb3da44936_0_0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g3fb3da4493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1650" y="400325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a7ef08543_2_31"/>
          <p:cNvSpPr txBox="1"/>
          <p:nvPr/>
        </p:nvSpPr>
        <p:spPr>
          <a:xfrm>
            <a:off x="457200" y="3765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2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Contextualização Atualizada do Desafio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a7ef08543_2_31"/>
          <p:cNvSpPr/>
          <p:nvPr/>
        </p:nvSpPr>
        <p:spPr>
          <a:xfrm>
            <a:off x="457200" y="1252630"/>
            <a:ext cx="3931800" cy="1691700"/>
          </a:xfrm>
          <a:prstGeom prst="roundRect">
            <a:avLst>
              <a:gd fmla="val 37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a7ef08543_2_31"/>
          <p:cNvSpPr txBox="1"/>
          <p:nvPr/>
        </p:nvSpPr>
        <p:spPr>
          <a:xfrm>
            <a:off x="1106375" y="1459998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Cenário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a7ef08543_2_31"/>
          <p:cNvSpPr txBox="1"/>
          <p:nvPr/>
        </p:nvSpPr>
        <p:spPr>
          <a:xfrm>
            <a:off x="658375" y="1915800"/>
            <a:ext cx="3599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7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10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Só em São Paulo, a CROSS gerencia mais de 500 hospitais públicos e filantrópicos, 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enfrentando superlotação constante</a:t>
            </a:r>
            <a:r>
              <a:rPr b="0" i="0" lang="en-US" sz="10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 O aumento das filas por leitos é provocado pela permanência desnecessária de pacientes que aguardam exames, procedimentos ou transferências. </a:t>
            </a:r>
            <a:endParaRPr sz="10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7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7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7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7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7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70"/>
              <a:buFont typeface="Calibri"/>
              <a:buNone/>
            </a:pPr>
            <a:r>
              <a:t/>
            </a:r>
            <a:endParaRPr sz="97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a7ef08543_2_31"/>
          <p:cNvSpPr/>
          <p:nvPr/>
        </p:nvSpPr>
        <p:spPr>
          <a:xfrm>
            <a:off x="4663440" y="1252655"/>
            <a:ext cx="3931800" cy="1691700"/>
          </a:xfrm>
          <a:prstGeom prst="roundRect">
            <a:avLst>
              <a:gd fmla="val 37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a7ef08543_2_31"/>
          <p:cNvSpPr txBox="1"/>
          <p:nvPr/>
        </p:nvSpPr>
        <p:spPr>
          <a:xfrm>
            <a:off x="5282465" y="1460011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a7ef08543_2_31"/>
          <p:cNvSpPr txBox="1"/>
          <p:nvPr/>
        </p:nvSpPr>
        <p:spPr>
          <a:xfrm>
            <a:off x="4864600" y="1870750"/>
            <a:ext cx="3511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93"/>
              <a:buFont typeface="Space Grotesk"/>
              <a:buNone/>
            </a:pPr>
            <a:r>
              <a:rPr lang="en-US" sz="9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0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 demor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 na identificação de pacientes aptos para alta ou encaminhamento é o gargalo que 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paralisa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o sistema. </a:t>
            </a:r>
            <a:endParaRPr sz="10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93"/>
              <a:buFont typeface="Space Grotesk"/>
              <a:buNone/>
            </a:pP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  A </a:t>
            </a:r>
            <a:r>
              <a:rPr b="0" i="0" lang="en-US" sz="10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causa não é falta de infraestrutura: é a ausência de inteligência no fluxo regulatório, já que a análise de prontuários ainda é manual e demorada.</a:t>
            </a:r>
            <a:endParaRPr sz="97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a7ef08543_2_31"/>
          <p:cNvSpPr/>
          <p:nvPr/>
        </p:nvSpPr>
        <p:spPr>
          <a:xfrm>
            <a:off x="457200" y="3136375"/>
            <a:ext cx="3931800" cy="1691700"/>
          </a:xfrm>
          <a:prstGeom prst="roundRect">
            <a:avLst>
              <a:gd fmla="val 37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a7ef08543_2_31"/>
          <p:cNvSpPr txBox="1"/>
          <p:nvPr/>
        </p:nvSpPr>
        <p:spPr>
          <a:xfrm>
            <a:off x="1050450" y="3331806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Por que isso é grave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fa7ef08543_2_31"/>
          <p:cNvSpPr txBox="1"/>
          <p:nvPr/>
        </p:nvSpPr>
        <p:spPr>
          <a:xfrm>
            <a:off x="676656" y="3767317"/>
            <a:ext cx="3492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70"/>
              <a:buFont typeface="Calibri"/>
              <a:buNone/>
            </a:pPr>
            <a:r>
              <a:rPr lang="en-US" sz="97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Cada leito ocupado desnecessariamente é um leito negado a um caso mais grave. Internações prolongadas elevam custos evitáveis ao sistema público e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eleva expressivamente os riscos de 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infecções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complicações</a:t>
            </a: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, sobretudo em pacientes que usam dispositivos invasivos.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a7ef08543_2_31"/>
          <p:cNvSpPr/>
          <p:nvPr/>
        </p:nvSpPr>
        <p:spPr>
          <a:xfrm>
            <a:off x="4663440" y="3136400"/>
            <a:ext cx="3931800" cy="1691700"/>
          </a:xfrm>
          <a:prstGeom prst="roundRect">
            <a:avLst>
              <a:gd fmla="val 37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a7ef08543_2_31"/>
          <p:cNvSpPr txBox="1"/>
          <p:nvPr/>
        </p:nvSpPr>
        <p:spPr>
          <a:xfrm>
            <a:off x="5282465" y="3252543"/>
            <a:ext cx="306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Urgência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a7ef08543_2_31"/>
          <p:cNvSpPr txBox="1"/>
          <p:nvPr/>
        </p:nvSpPr>
        <p:spPr>
          <a:xfrm>
            <a:off x="4864600" y="3707925"/>
            <a:ext cx="3666900" cy="10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7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  Resolver esse desafio agora é importante para aumentar a rotatividade dos leitos e reduzir o tempo de 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internações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prolongadas.</a:t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7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  A utilização de IA e PLN permite aproveitar dados que 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já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existem nos hospitais (Prontuários 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eletrônicos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SIRESP), 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para agilizar a 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dos 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prontuários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e apoiar os profissionais na 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identificação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de pacientes que podem estar aptos para alta ou transferência, sempre com validação humana.  </a:t>
            </a:r>
            <a:r>
              <a:rPr lang="en-US" sz="900">
                <a:solidFill>
                  <a:schemeClr val="dk1"/>
                </a:solidFill>
              </a:rPr>
              <a:t>  </a:t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fa7ef08543_2_31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a7ef08543_2_31"/>
          <p:cNvSpPr/>
          <p:nvPr/>
        </p:nvSpPr>
        <p:spPr>
          <a:xfrm>
            <a:off x="457200" y="834900"/>
            <a:ext cx="5401800" cy="444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g3fa7ef08543_2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50" y="1492025"/>
            <a:ext cx="400089" cy="256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1" name="Google Shape;141;g3fa7ef08543_2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2888" y="1491459"/>
            <a:ext cx="2857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2" name="Google Shape;142;g3fa7ef08543_2_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340" y="3345248"/>
            <a:ext cx="329775" cy="29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43" name="Google Shape;143;g3fa7ef08543_2_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82900" y="3264200"/>
            <a:ext cx="329775" cy="296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fa7ef08543_2_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21650" y="400325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7ef08543_2_59"/>
          <p:cNvSpPr txBox="1"/>
          <p:nvPr/>
        </p:nvSpPr>
        <p:spPr>
          <a:xfrm>
            <a:off x="457200" y="422297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Objetivo Atual do Projeto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a7ef08543_2_59"/>
          <p:cNvSpPr/>
          <p:nvPr/>
        </p:nvSpPr>
        <p:spPr>
          <a:xfrm>
            <a:off x="457200" y="1191324"/>
            <a:ext cx="8229600" cy="1051500"/>
          </a:xfrm>
          <a:prstGeom prst="roundRect">
            <a:avLst>
              <a:gd fmla="val 6957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fa7ef08543_2_59"/>
          <p:cNvSpPr txBox="1"/>
          <p:nvPr/>
        </p:nvSpPr>
        <p:spPr>
          <a:xfrm>
            <a:off x="685800" y="1289804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OBJETIVO GERAL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fa7ef08543_2_59"/>
          <p:cNvSpPr txBox="1"/>
          <p:nvPr/>
        </p:nvSpPr>
        <p:spPr>
          <a:xfrm>
            <a:off x="685800" y="1546553"/>
            <a:ext cx="7772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Reduzir o tempo de internação hospitalar desnecessária e otimizar o fluxo de regulação de leitos do SUS, desenvolvendo um sistema de apoio à decisão clínica que lê prontuários automaticamente, identifica pacientes aptos para alta ou transferência e agiliza a atuação dos reguladores da CROSS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sempre com validação humana obrigatória.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a7ef08543_2_59"/>
          <p:cNvSpPr txBox="1"/>
          <p:nvPr/>
        </p:nvSpPr>
        <p:spPr>
          <a:xfrm>
            <a:off x="457200" y="2551006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fa7ef08543_2_59"/>
          <p:cNvSpPr/>
          <p:nvPr/>
        </p:nvSpPr>
        <p:spPr>
          <a:xfrm>
            <a:off x="457200" y="2977349"/>
            <a:ext cx="255900" cy="255900"/>
          </a:xfrm>
          <a:prstGeom prst="ellipse">
            <a:avLst/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fa7ef08543_2_59"/>
          <p:cNvSpPr txBox="1"/>
          <p:nvPr/>
        </p:nvSpPr>
        <p:spPr>
          <a:xfrm>
            <a:off x="457200" y="2971715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fa7ef08543_2_59"/>
          <p:cNvSpPr txBox="1"/>
          <p:nvPr/>
        </p:nvSpPr>
        <p:spPr>
          <a:xfrm>
            <a:off x="841248" y="2887947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Automatizar a leitura de prontuários eletrônicos com PLN para as patologias AVC, ITU e pneumonia.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fa7ef08543_2_59"/>
          <p:cNvSpPr/>
          <p:nvPr/>
        </p:nvSpPr>
        <p:spPr>
          <a:xfrm>
            <a:off x="457200" y="3517581"/>
            <a:ext cx="255900" cy="255900"/>
          </a:xfrm>
          <a:prstGeom prst="ellipse">
            <a:avLst/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fa7ef08543_2_59"/>
          <p:cNvSpPr txBox="1"/>
          <p:nvPr/>
        </p:nvSpPr>
        <p:spPr>
          <a:xfrm>
            <a:off x="457200" y="3506313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fa7ef08543_2_59"/>
          <p:cNvSpPr txBox="1"/>
          <p:nvPr/>
        </p:nvSpPr>
        <p:spPr>
          <a:xfrm>
            <a:off x="841248" y="3422545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Gerar um score de elegibilidade para alta/transferência auditável, com base em escalas clínicas reconhecida</a:t>
            </a:r>
            <a:r>
              <a:rPr b="0" i="0" lang="en-US" sz="10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n-US" sz="106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(CID-10, Sinais Vitais, exames diagnosticos, dispositivos invasivos, terapia medicamentosa)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fa7ef08543_2_59"/>
          <p:cNvSpPr/>
          <p:nvPr/>
        </p:nvSpPr>
        <p:spPr>
          <a:xfrm>
            <a:off x="457200" y="4024011"/>
            <a:ext cx="255900" cy="255900"/>
          </a:xfrm>
          <a:prstGeom prst="ellipse">
            <a:avLst/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a7ef08543_2_59"/>
          <p:cNvSpPr txBox="1"/>
          <p:nvPr/>
        </p:nvSpPr>
        <p:spPr>
          <a:xfrm>
            <a:off x="457200" y="4018377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a7ef08543_2_59"/>
          <p:cNvSpPr txBox="1"/>
          <p:nvPr/>
        </p:nvSpPr>
        <p:spPr>
          <a:xfrm>
            <a:off x="841248" y="3912075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Integrar os resultados ao fluxo de regulação já existente (SIRESP), sem substituir os sistemas legados.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a7ef08543_2_59"/>
          <p:cNvSpPr/>
          <p:nvPr/>
        </p:nvSpPr>
        <p:spPr>
          <a:xfrm>
            <a:off x="457200" y="4530441"/>
            <a:ext cx="255900" cy="255900"/>
          </a:xfrm>
          <a:prstGeom prst="ellipse">
            <a:avLst/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a7ef08543_2_59"/>
          <p:cNvSpPr txBox="1"/>
          <p:nvPr/>
        </p:nvSpPr>
        <p:spPr>
          <a:xfrm>
            <a:off x="457200" y="451917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a7ef08543_2_59"/>
          <p:cNvSpPr txBox="1"/>
          <p:nvPr/>
        </p:nvSpPr>
        <p:spPr>
          <a:xfrm>
            <a:off x="841248" y="4424139"/>
            <a:ext cx="781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Aumentar a rotatividade de leitos e reduzir o risco de complicações associadas à internação prolongada.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fa7ef08543_2_59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g3fa7ef08543_2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8d3f5ab08_1_75"/>
          <p:cNvSpPr/>
          <p:nvPr/>
        </p:nvSpPr>
        <p:spPr>
          <a:xfrm>
            <a:off x="342900" y="4213550"/>
            <a:ext cx="8458200" cy="6402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8d3f5ab08_1_75"/>
          <p:cNvSpPr/>
          <p:nvPr/>
        </p:nvSpPr>
        <p:spPr>
          <a:xfrm>
            <a:off x="342900" y="994125"/>
            <a:ext cx="2007300" cy="225600"/>
          </a:xfrm>
          <a:prstGeom prst="roundRect">
            <a:avLst>
              <a:gd fmla="val 1875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f8d3f5ab08_1_75"/>
          <p:cNvSpPr/>
          <p:nvPr/>
        </p:nvSpPr>
        <p:spPr>
          <a:xfrm>
            <a:off x="342900" y="1427467"/>
            <a:ext cx="2724000" cy="26289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f8d3f5ab08_1_75"/>
          <p:cNvSpPr/>
          <p:nvPr/>
        </p:nvSpPr>
        <p:spPr>
          <a:xfrm>
            <a:off x="3209888" y="1427467"/>
            <a:ext cx="2724000" cy="26289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8d3f5ab08_1_75"/>
          <p:cNvSpPr/>
          <p:nvPr/>
        </p:nvSpPr>
        <p:spPr>
          <a:xfrm>
            <a:off x="6076875" y="1427467"/>
            <a:ext cx="2724000" cy="2628900"/>
          </a:xfrm>
          <a:prstGeom prst="roundRect">
            <a:avLst>
              <a:gd fmla="val 326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8d3f5ab08_1_75"/>
          <p:cNvSpPr/>
          <p:nvPr/>
        </p:nvSpPr>
        <p:spPr>
          <a:xfrm>
            <a:off x="521494" y="1856092"/>
            <a:ext cx="2367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8d3f5ab08_1_75"/>
          <p:cNvSpPr/>
          <p:nvPr/>
        </p:nvSpPr>
        <p:spPr>
          <a:xfrm>
            <a:off x="3388481" y="1856092"/>
            <a:ext cx="2367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8d3f5ab08_1_75"/>
          <p:cNvSpPr/>
          <p:nvPr/>
        </p:nvSpPr>
        <p:spPr>
          <a:xfrm>
            <a:off x="6255469" y="1856092"/>
            <a:ext cx="2367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1" name="Google Shape;181;g3f8d3f5ab08_1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913" y="1058400"/>
            <a:ext cx="85725" cy="100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g3f8d3f5ab08_1_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494" y="162392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g3f8d3f5ab08_1_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8481" y="162392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g3f8d3f5ab08_1_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5469" y="1623920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f8d3f5ab08_1_75"/>
          <p:cNvSpPr txBox="1"/>
          <p:nvPr/>
        </p:nvSpPr>
        <p:spPr>
          <a:xfrm>
            <a:off x="585694" y="1046900"/>
            <a:ext cx="1764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Jan/2025 – Ago/2026 (20 Meses)</a:t>
            </a:r>
            <a:endParaRPr sz="1100"/>
          </a:p>
        </p:txBody>
      </p:sp>
      <p:sp>
        <p:nvSpPr>
          <p:cNvPr id="186" name="Google Shape;186;g3f8d3f5ab08_1_75"/>
          <p:cNvSpPr txBox="1"/>
          <p:nvPr/>
        </p:nvSpPr>
        <p:spPr>
          <a:xfrm>
            <a:off x="342900" y="666338"/>
            <a:ext cx="69561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7A5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CENÁRIO 1 — MODELO DE REFERÊNCIA</a:t>
            </a:r>
            <a:endParaRPr sz="1100">
              <a:solidFill>
                <a:srgbClr val="E07A5F"/>
              </a:solidFill>
            </a:endParaRPr>
          </a:p>
        </p:txBody>
      </p:sp>
      <p:sp>
        <p:nvSpPr>
          <p:cNvPr id="187" name="Google Shape;187;g3f8d3f5ab08_1_75"/>
          <p:cNvSpPr txBox="1"/>
          <p:nvPr/>
        </p:nvSpPr>
        <p:spPr>
          <a:xfrm>
            <a:off x="342900" y="364494"/>
            <a:ext cx="7304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Simulação DataCross (10.000 Internações Padronizadas)</a:t>
            </a:r>
            <a:endParaRPr sz="1100"/>
          </a:p>
        </p:txBody>
      </p:sp>
      <p:sp>
        <p:nvSpPr>
          <p:cNvPr id="188" name="Google Shape;188;g3f8d3f5ab08_1_75"/>
          <p:cNvSpPr txBox="1"/>
          <p:nvPr/>
        </p:nvSpPr>
        <p:spPr>
          <a:xfrm>
            <a:off x="735806" y="1606061"/>
            <a:ext cx="222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AVC</a:t>
            </a:r>
            <a:endParaRPr sz="1100"/>
          </a:p>
        </p:txBody>
      </p:sp>
      <p:sp>
        <p:nvSpPr>
          <p:cNvPr id="189" name="Google Shape;189;g3f8d3f5ab08_1_75"/>
          <p:cNvSpPr txBox="1"/>
          <p:nvPr/>
        </p:nvSpPr>
        <p:spPr>
          <a:xfrm>
            <a:off x="3602794" y="1606061"/>
            <a:ext cx="222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ITU</a:t>
            </a:r>
            <a:endParaRPr sz="1100"/>
          </a:p>
        </p:txBody>
      </p:sp>
      <p:sp>
        <p:nvSpPr>
          <p:cNvPr id="190" name="Google Shape;190;g3f8d3f5ab08_1_75"/>
          <p:cNvSpPr txBox="1"/>
          <p:nvPr/>
        </p:nvSpPr>
        <p:spPr>
          <a:xfrm>
            <a:off x="6505500" y="1606061"/>
            <a:ext cx="218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Pneumonia</a:t>
            </a:r>
            <a:endParaRPr sz="1100"/>
          </a:p>
        </p:txBody>
      </p:sp>
      <p:sp>
        <p:nvSpPr>
          <p:cNvPr id="191" name="Google Shape;191;g3f8d3f5ab08_1_75"/>
          <p:cNvSpPr txBox="1"/>
          <p:nvPr/>
        </p:nvSpPr>
        <p:spPr>
          <a:xfrm>
            <a:off x="521494" y="1956105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Permanência M</a:t>
            </a: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</a:t>
            </a: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 Observada vs Meta</a:t>
            </a:r>
            <a:endParaRPr sz="1100"/>
          </a:p>
        </p:txBody>
      </p:sp>
      <p:sp>
        <p:nvSpPr>
          <p:cNvPr id="192" name="Google Shape;192;g3f8d3f5ab08_1_75"/>
          <p:cNvSpPr txBox="1"/>
          <p:nvPr/>
        </p:nvSpPr>
        <p:spPr>
          <a:xfrm>
            <a:off x="521494" y="2113267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8,54 dias (Meta clínica: 7,0 dias)</a:t>
            </a:r>
            <a:endParaRPr sz="1100"/>
          </a:p>
        </p:txBody>
      </p:sp>
      <p:sp>
        <p:nvSpPr>
          <p:cNvPr id="193" name="Google Shape;193;g3f8d3f5ab08_1_75"/>
          <p:cNvSpPr txBox="1"/>
          <p:nvPr/>
        </p:nvSpPr>
        <p:spPr>
          <a:xfrm>
            <a:off x="521494" y="2327580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Redução Potencial por Caso</a:t>
            </a:r>
            <a:endParaRPr sz="1100"/>
          </a:p>
        </p:txBody>
      </p:sp>
      <p:sp>
        <p:nvSpPr>
          <p:cNvPr id="194" name="Google Shape;194;g3f8d3f5ab08_1_75"/>
          <p:cNvSpPr txBox="1"/>
          <p:nvPr/>
        </p:nvSpPr>
        <p:spPr>
          <a:xfrm>
            <a:off x="521494" y="2484742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1,54 dia(s) por internação elegível</a:t>
            </a:r>
            <a:endParaRPr sz="1100"/>
          </a:p>
        </p:txBody>
      </p:sp>
      <p:sp>
        <p:nvSpPr>
          <p:cNvPr id="195" name="Google Shape;195;g3f8d3f5ab08_1_75"/>
          <p:cNvSpPr txBox="1"/>
          <p:nvPr/>
        </p:nvSpPr>
        <p:spPr>
          <a:xfrm>
            <a:off x="521494" y="2699055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Dias-Leito Evitáveis</a:t>
            </a:r>
            <a:endParaRPr sz="1100"/>
          </a:p>
        </p:txBody>
      </p:sp>
      <p:sp>
        <p:nvSpPr>
          <p:cNvPr id="196" name="Google Shape;196;g3f8d3f5ab08_1_75"/>
          <p:cNvSpPr txBox="1"/>
          <p:nvPr/>
        </p:nvSpPr>
        <p:spPr>
          <a:xfrm>
            <a:off x="521494" y="2856217"/>
            <a:ext cx="29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15.400 dias no total</a:t>
            </a:r>
            <a:endParaRPr sz="1100">
              <a:solidFill>
                <a:srgbClr val="E07A5F"/>
              </a:solidFill>
            </a:endParaRPr>
          </a:p>
        </p:txBody>
      </p:sp>
      <p:sp>
        <p:nvSpPr>
          <p:cNvPr id="197" name="Google Shape;197;g3f8d3f5ab08_1_75"/>
          <p:cNvSpPr txBox="1"/>
          <p:nvPr/>
        </p:nvSpPr>
        <p:spPr>
          <a:xfrm>
            <a:off x="521494" y="3141967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Ganho de Capacidade Média</a:t>
            </a:r>
            <a:endParaRPr sz="1100"/>
          </a:p>
        </p:txBody>
      </p:sp>
      <p:sp>
        <p:nvSpPr>
          <p:cNvPr id="198" name="Google Shape;198;g3f8d3f5ab08_1_75"/>
          <p:cNvSpPr txBox="1"/>
          <p:nvPr/>
        </p:nvSpPr>
        <p:spPr>
          <a:xfrm>
            <a:off x="521494" y="3299130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25 leitos</a:t>
            </a:r>
            <a:r>
              <a:rPr b="1"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equivalentes</a:t>
            </a:r>
            <a:endParaRPr sz="1100"/>
          </a:p>
        </p:txBody>
      </p:sp>
      <p:sp>
        <p:nvSpPr>
          <p:cNvPr id="199" name="Google Shape;199;g3f8d3f5ab08_1_75"/>
          <p:cNvSpPr txBox="1"/>
          <p:nvPr/>
        </p:nvSpPr>
        <p:spPr>
          <a:xfrm>
            <a:off x="521494" y="3513442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 Evitável (R$ 350,64/dia)</a:t>
            </a:r>
            <a:endParaRPr sz="1100"/>
          </a:p>
        </p:txBody>
      </p:sp>
      <p:sp>
        <p:nvSpPr>
          <p:cNvPr id="200" name="Google Shape;200;g3f8d3f5ab08_1_75"/>
          <p:cNvSpPr txBox="1"/>
          <p:nvPr/>
        </p:nvSpPr>
        <p:spPr>
          <a:xfrm>
            <a:off x="521494" y="3670605"/>
            <a:ext cx="29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R$ 5,40 Milhões</a:t>
            </a:r>
            <a:endParaRPr sz="1100"/>
          </a:p>
        </p:txBody>
      </p:sp>
      <p:sp>
        <p:nvSpPr>
          <p:cNvPr id="201" name="Google Shape;201;g3f8d3f5ab08_1_75"/>
          <p:cNvSpPr txBox="1"/>
          <p:nvPr/>
        </p:nvSpPr>
        <p:spPr>
          <a:xfrm>
            <a:off x="3388481" y="1956105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Permanência </a:t>
            </a: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Média </a:t>
            </a: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Observada vs Meta</a:t>
            </a:r>
            <a:endParaRPr sz="1100"/>
          </a:p>
        </p:txBody>
      </p:sp>
      <p:sp>
        <p:nvSpPr>
          <p:cNvPr id="202" name="Google Shape;202;g3f8d3f5ab08_1_75"/>
          <p:cNvSpPr txBox="1"/>
          <p:nvPr/>
        </p:nvSpPr>
        <p:spPr>
          <a:xfrm>
            <a:off x="3388481" y="2113267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7,53 dias (Meta clínica: 5,0 dias)</a:t>
            </a:r>
            <a:endParaRPr sz="1100"/>
          </a:p>
        </p:txBody>
      </p:sp>
      <p:sp>
        <p:nvSpPr>
          <p:cNvPr id="203" name="Google Shape;203;g3f8d3f5ab08_1_75"/>
          <p:cNvSpPr txBox="1"/>
          <p:nvPr/>
        </p:nvSpPr>
        <p:spPr>
          <a:xfrm>
            <a:off x="3388481" y="2327580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Redução Potencial por Caso</a:t>
            </a:r>
            <a:endParaRPr sz="1100"/>
          </a:p>
        </p:txBody>
      </p:sp>
      <p:sp>
        <p:nvSpPr>
          <p:cNvPr id="204" name="Google Shape;204;g3f8d3f5ab08_1_75"/>
          <p:cNvSpPr txBox="1"/>
          <p:nvPr/>
        </p:nvSpPr>
        <p:spPr>
          <a:xfrm>
            <a:off x="3388481" y="2484742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2,53 dia(s) por internação elegível</a:t>
            </a:r>
            <a:endParaRPr sz="1100"/>
          </a:p>
        </p:txBody>
      </p:sp>
      <p:sp>
        <p:nvSpPr>
          <p:cNvPr id="205" name="Google Shape;205;g3f8d3f5ab08_1_75"/>
          <p:cNvSpPr txBox="1"/>
          <p:nvPr/>
        </p:nvSpPr>
        <p:spPr>
          <a:xfrm>
            <a:off x="3388481" y="2699055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Dias-Leito Evitáveis</a:t>
            </a:r>
            <a:endParaRPr sz="1100"/>
          </a:p>
        </p:txBody>
      </p:sp>
      <p:sp>
        <p:nvSpPr>
          <p:cNvPr id="206" name="Google Shape;206;g3f8d3f5ab08_1_75"/>
          <p:cNvSpPr txBox="1"/>
          <p:nvPr/>
        </p:nvSpPr>
        <p:spPr>
          <a:xfrm>
            <a:off x="3388481" y="2856217"/>
            <a:ext cx="29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25.300 dias no total</a:t>
            </a:r>
            <a:endParaRPr sz="1100">
              <a:solidFill>
                <a:srgbClr val="E07A5F"/>
              </a:solidFill>
            </a:endParaRPr>
          </a:p>
        </p:txBody>
      </p:sp>
      <p:sp>
        <p:nvSpPr>
          <p:cNvPr id="207" name="Google Shape;207;g3f8d3f5ab08_1_75"/>
          <p:cNvSpPr txBox="1"/>
          <p:nvPr/>
        </p:nvSpPr>
        <p:spPr>
          <a:xfrm>
            <a:off x="3388481" y="3141967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Ganho de Capacidade Média</a:t>
            </a:r>
            <a:endParaRPr sz="1100"/>
          </a:p>
        </p:txBody>
      </p:sp>
      <p:sp>
        <p:nvSpPr>
          <p:cNvPr id="208" name="Google Shape;208;g3f8d3f5ab08_1_75"/>
          <p:cNvSpPr txBox="1"/>
          <p:nvPr/>
        </p:nvSpPr>
        <p:spPr>
          <a:xfrm>
            <a:off x="3388481" y="3299130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42 leitos</a:t>
            </a:r>
            <a:r>
              <a:rPr b="1"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equivalentes</a:t>
            </a:r>
            <a:endParaRPr sz="1100"/>
          </a:p>
        </p:txBody>
      </p:sp>
      <p:sp>
        <p:nvSpPr>
          <p:cNvPr id="209" name="Google Shape;209;g3f8d3f5ab08_1_75"/>
          <p:cNvSpPr txBox="1"/>
          <p:nvPr/>
        </p:nvSpPr>
        <p:spPr>
          <a:xfrm>
            <a:off x="3388481" y="3513442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 Evitável (R$ 97,45/dia)</a:t>
            </a:r>
            <a:endParaRPr sz="1100"/>
          </a:p>
        </p:txBody>
      </p:sp>
      <p:sp>
        <p:nvSpPr>
          <p:cNvPr id="210" name="Google Shape;210;g3f8d3f5ab08_1_75"/>
          <p:cNvSpPr txBox="1"/>
          <p:nvPr/>
        </p:nvSpPr>
        <p:spPr>
          <a:xfrm>
            <a:off x="3388481" y="3670605"/>
            <a:ext cx="29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R$ 2,47 Milhões</a:t>
            </a:r>
            <a:endParaRPr sz="1100"/>
          </a:p>
        </p:txBody>
      </p:sp>
      <p:sp>
        <p:nvSpPr>
          <p:cNvPr id="211" name="Google Shape;211;g3f8d3f5ab08_1_75"/>
          <p:cNvSpPr txBox="1"/>
          <p:nvPr/>
        </p:nvSpPr>
        <p:spPr>
          <a:xfrm>
            <a:off x="6255469" y="1956105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Permanência M</a:t>
            </a: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édia </a:t>
            </a: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Observada vs Meta</a:t>
            </a:r>
            <a:endParaRPr sz="1100"/>
          </a:p>
        </p:txBody>
      </p:sp>
      <p:sp>
        <p:nvSpPr>
          <p:cNvPr id="212" name="Google Shape;212;g3f8d3f5ab08_1_75"/>
          <p:cNvSpPr txBox="1"/>
          <p:nvPr/>
        </p:nvSpPr>
        <p:spPr>
          <a:xfrm>
            <a:off x="6255469" y="2113267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9,30 dias (Meta clínica: 6,0 dias)</a:t>
            </a:r>
            <a:endParaRPr sz="1100"/>
          </a:p>
        </p:txBody>
      </p:sp>
      <p:sp>
        <p:nvSpPr>
          <p:cNvPr id="213" name="Google Shape;213;g3f8d3f5ab08_1_75"/>
          <p:cNvSpPr txBox="1"/>
          <p:nvPr/>
        </p:nvSpPr>
        <p:spPr>
          <a:xfrm>
            <a:off x="6255469" y="2327580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Redução Potencial por Caso</a:t>
            </a:r>
            <a:endParaRPr sz="1100"/>
          </a:p>
        </p:txBody>
      </p:sp>
      <p:sp>
        <p:nvSpPr>
          <p:cNvPr id="214" name="Google Shape;214;g3f8d3f5ab08_1_75"/>
          <p:cNvSpPr txBox="1"/>
          <p:nvPr/>
        </p:nvSpPr>
        <p:spPr>
          <a:xfrm>
            <a:off x="6255469" y="2484742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3,30 dia(s) por internação elegível</a:t>
            </a:r>
            <a:endParaRPr sz="1100"/>
          </a:p>
        </p:txBody>
      </p:sp>
      <p:sp>
        <p:nvSpPr>
          <p:cNvPr id="215" name="Google Shape;215;g3f8d3f5ab08_1_75"/>
          <p:cNvSpPr txBox="1"/>
          <p:nvPr/>
        </p:nvSpPr>
        <p:spPr>
          <a:xfrm>
            <a:off x="6255469" y="2699055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Dias-Leito Evitáveis</a:t>
            </a:r>
            <a:endParaRPr sz="1100"/>
          </a:p>
        </p:txBody>
      </p:sp>
      <p:sp>
        <p:nvSpPr>
          <p:cNvPr id="216" name="Google Shape;216;g3f8d3f5ab08_1_75"/>
          <p:cNvSpPr txBox="1"/>
          <p:nvPr/>
        </p:nvSpPr>
        <p:spPr>
          <a:xfrm>
            <a:off x="6255469" y="2856217"/>
            <a:ext cx="28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33.000 dias no total</a:t>
            </a:r>
            <a:endParaRPr sz="1100">
              <a:solidFill>
                <a:srgbClr val="E07A5F"/>
              </a:solidFill>
            </a:endParaRPr>
          </a:p>
        </p:txBody>
      </p:sp>
      <p:sp>
        <p:nvSpPr>
          <p:cNvPr id="217" name="Google Shape;217;g3f8d3f5ab08_1_75"/>
          <p:cNvSpPr txBox="1"/>
          <p:nvPr/>
        </p:nvSpPr>
        <p:spPr>
          <a:xfrm>
            <a:off x="6255469" y="3141967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Ganho de Capacidade Média</a:t>
            </a:r>
            <a:endParaRPr sz="1100"/>
          </a:p>
        </p:txBody>
      </p:sp>
      <p:sp>
        <p:nvSpPr>
          <p:cNvPr id="218" name="Google Shape;218;g3f8d3f5ab08_1_75"/>
          <p:cNvSpPr txBox="1"/>
          <p:nvPr/>
        </p:nvSpPr>
        <p:spPr>
          <a:xfrm>
            <a:off x="6255469" y="3299130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54 leitos</a:t>
            </a:r>
            <a:r>
              <a:rPr b="1"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equivalentes</a:t>
            </a:r>
            <a:endParaRPr sz="1100"/>
          </a:p>
        </p:txBody>
      </p:sp>
      <p:sp>
        <p:nvSpPr>
          <p:cNvPr id="219" name="Google Shape;219;g3f8d3f5ab08_1_75"/>
          <p:cNvSpPr txBox="1"/>
          <p:nvPr/>
        </p:nvSpPr>
        <p:spPr>
          <a:xfrm>
            <a:off x="6255469" y="3513442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 Evitável (R$ 185,25/dia)</a:t>
            </a:r>
            <a:endParaRPr sz="1100"/>
          </a:p>
        </p:txBody>
      </p:sp>
      <p:sp>
        <p:nvSpPr>
          <p:cNvPr id="220" name="Google Shape;220;g3f8d3f5ab08_1_75"/>
          <p:cNvSpPr txBox="1"/>
          <p:nvPr/>
        </p:nvSpPr>
        <p:spPr>
          <a:xfrm>
            <a:off x="6255469" y="3670605"/>
            <a:ext cx="28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R$ 6,11 Milhões</a:t>
            </a:r>
            <a:endParaRPr sz="1100"/>
          </a:p>
        </p:txBody>
      </p:sp>
      <p:pic>
        <p:nvPicPr>
          <p:cNvPr id="221" name="Google Shape;221;g3f8d3f5ab08_1_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27275" y="380950"/>
            <a:ext cx="1173600" cy="4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f8d3f5ab08_1_75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f8d3f5ab08_1_75"/>
          <p:cNvSpPr txBox="1"/>
          <p:nvPr/>
        </p:nvSpPr>
        <p:spPr>
          <a:xfrm>
            <a:off x="469150" y="4313950"/>
            <a:ext cx="8537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 Oficial do SUS:</a:t>
            </a: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Ministério da Saúde — SIH/SUS / DATASUS, Procedimentos Hospitalares do SUS por local de internação (AIH). </a:t>
            </a:r>
            <a:endParaRPr b="0" i="0" sz="8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URL: </a:t>
            </a:r>
            <a:r>
              <a:rPr b="0" i="0" lang="en-US" sz="8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8"/>
              </a:rPr>
              <a:t>https://tabnet.datasus.gov.br/cgi/sih/Proced_hosp_loc_int_2008.pdf</a:t>
            </a: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Recorte Analítico: SIH_SP_Pneumonia_ITU_AVC_Formatado.xlsx (Jan/2025–Ago/2026).</a:t>
            </a:r>
            <a:endParaRPr b="0" i="0" sz="8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 projeções de economia não são valores de economia publicados oficialmente pelo Ministério da Saúde.</a:t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8d3f5ab08_1_129"/>
          <p:cNvSpPr/>
          <p:nvPr/>
        </p:nvSpPr>
        <p:spPr>
          <a:xfrm>
            <a:off x="378625" y="4108446"/>
            <a:ext cx="8458200" cy="669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f8d3f5ab08_1_129"/>
          <p:cNvSpPr/>
          <p:nvPr/>
        </p:nvSpPr>
        <p:spPr>
          <a:xfrm>
            <a:off x="342900" y="1132477"/>
            <a:ext cx="1623300" cy="228600"/>
          </a:xfrm>
          <a:prstGeom prst="roundRect">
            <a:avLst>
              <a:gd fmla="val 1875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8d3f5ab08_1_129"/>
          <p:cNvSpPr/>
          <p:nvPr/>
        </p:nvSpPr>
        <p:spPr>
          <a:xfrm>
            <a:off x="342900" y="1647178"/>
            <a:ext cx="2724000" cy="2257500"/>
          </a:xfrm>
          <a:prstGeom prst="roundRect">
            <a:avLst>
              <a:gd fmla="val 37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8d3f5ab08_1_129"/>
          <p:cNvSpPr/>
          <p:nvPr/>
        </p:nvSpPr>
        <p:spPr>
          <a:xfrm>
            <a:off x="3209888" y="1647178"/>
            <a:ext cx="2724000" cy="2257500"/>
          </a:xfrm>
          <a:prstGeom prst="roundRect">
            <a:avLst>
              <a:gd fmla="val 37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8d3f5ab08_1_129"/>
          <p:cNvSpPr/>
          <p:nvPr/>
        </p:nvSpPr>
        <p:spPr>
          <a:xfrm>
            <a:off x="6076875" y="1647178"/>
            <a:ext cx="2724000" cy="2257500"/>
          </a:xfrm>
          <a:prstGeom prst="roundRect">
            <a:avLst>
              <a:gd fmla="val 379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8d3f5ab08_1_129"/>
          <p:cNvSpPr/>
          <p:nvPr/>
        </p:nvSpPr>
        <p:spPr>
          <a:xfrm>
            <a:off x="521494" y="2075804"/>
            <a:ext cx="2367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8d3f5ab08_1_129"/>
          <p:cNvSpPr/>
          <p:nvPr/>
        </p:nvSpPr>
        <p:spPr>
          <a:xfrm>
            <a:off x="3388481" y="2075804"/>
            <a:ext cx="2367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8d3f5ab08_1_129"/>
          <p:cNvSpPr/>
          <p:nvPr/>
        </p:nvSpPr>
        <p:spPr>
          <a:xfrm>
            <a:off x="6255469" y="2075804"/>
            <a:ext cx="23670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g3f8d3f5ab08_1_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200" y="1205347"/>
            <a:ext cx="114300" cy="100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g3f8d3f5ab08_1_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494" y="184363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g3f8d3f5ab08_1_1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8481" y="1843631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g3f8d3f5ab08_1_1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5469" y="1843631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f8d3f5ab08_1_129"/>
          <p:cNvSpPr txBox="1"/>
          <p:nvPr/>
        </p:nvSpPr>
        <p:spPr>
          <a:xfrm>
            <a:off x="469175" y="4213550"/>
            <a:ext cx="8537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Fonte Oficial do SUS:</a:t>
            </a: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Ministério da Saúde — SIH/SUS / DATASUS, Procedimentos Hospitalares do SUS por local de internação (AIH). </a:t>
            </a:r>
            <a:endParaRPr b="0" i="0" sz="8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URL: </a:t>
            </a:r>
            <a:r>
              <a:rPr b="0" i="0" lang="en-US" sz="800" u="sng" cap="none" strike="noStrike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7"/>
              </a:rPr>
              <a:t>https://tabnet.datasus.gov.br/cgi/sih/Proced_hosp_loc_int_2008.pdf</a:t>
            </a: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Recorte Analítico: SIH_SP_Pneumonia_ITU_AVC_Formatado.xlsx (Jan/2025–Ago/2026).</a:t>
            </a:r>
            <a:endParaRPr b="0" i="0" sz="8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 projeções de economia não são valores de economia publicados oficialmente pelo Ministério da Saúde.</a:t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41" name="Google Shape;241;g3f8d3f5ab08_1_129"/>
          <p:cNvSpPr txBox="1"/>
          <p:nvPr/>
        </p:nvSpPr>
        <p:spPr>
          <a:xfrm>
            <a:off x="587581" y="1184239"/>
            <a:ext cx="1435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Total: </a:t>
            </a:r>
            <a:r>
              <a:rPr b="1" i="0" lang="en-US" sz="800" u="sng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53.382 Internações</a:t>
            </a:r>
            <a:endParaRPr sz="1100" u="sng"/>
          </a:p>
        </p:txBody>
      </p:sp>
      <p:sp>
        <p:nvSpPr>
          <p:cNvPr id="242" name="Google Shape;242;g3f8d3f5ab08_1_129"/>
          <p:cNvSpPr txBox="1"/>
          <p:nvPr/>
        </p:nvSpPr>
        <p:spPr>
          <a:xfrm>
            <a:off x="342900" y="799236"/>
            <a:ext cx="569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7A5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CENÁRIO 2 — APLICAÇÃO AO VOLUME REAL REGISTRADO</a:t>
            </a:r>
            <a:endParaRPr sz="1100">
              <a:solidFill>
                <a:srgbClr val="E07A5F"/>
              </a:solidFill>
            </a:endParaRPr>
          </a:p>
        </p:txBody>
      </p:sp>
      <p:sp>
        <p:nvSpPr>
          <p:cNvPr id="243" name="Google Shape;243;g3f8d3f5ab08_1_129"/>
          <p:cNvSpPr txBox="1"/>
          <p:nvPr/>
        </p:nvSpPr>
        <p:spPr>
          <a:xfrm>
            <a:off x="342900" y="460871"/>
            <a:ext cx="598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Projeções no Recorte Real SIH/SUS (São Paulo)</a:t>
            </a:r>
            <a:endParaRPr sz="1100"/>
          </a:p>
        </p:txBody>
      </p:sp>
      <p:sp>
        <p:nvSpPr>
          <p:cNvPr id="244" name="Google Shape;244;g3f8d3f5ab08_1_129"/>
          <p:cNvSpPr txBox="1"/>
          <p:nvPr/>
        </p:nvSpPr>
        <p:spPr>
          <a:xfrm>
            <a:off x="735806" y="1825772"/>
            <a:ext cx="222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AVC (SIH/SUS)</a:t>
            </a:r>
            <a:endParaRPr sz="1100"/>
          </a:p>
        </p:txBody>
      </p:sp>
      <p:sp>
        <p:nvSpPr>
          <p:cNvPr id="245" name="Google Shape;245;g3f8d3f5ab08_1_129"/>
          <p:cNvSpPr txBox="1"/>
          <p:nvPr/>
        </p:nvSpPr>
        <p:spPr>
          <a:xfrm>
            <a:off x="3602794" y="1825772"/>
            <a:ext cx="222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ITU (SIH/SUS)</a:t>
            </a:r>
            <a:endParaRPr sz="1100"/>
          </a:p>
        </p:txBody>
      </p:sp>
      <p:sp>
        <p:nvSpPr>
          <p:cNvPr id="246" name="Google Shape;246;g3f8d3f5ab08_1_129"/>
          <p:cNvSpPr txBox="1"/>
          <p:nvPr/>
        </p:nvSpPr>
        <p:spPr>
          <a:xfrm>
            <a:off x="6505500" y="1825772"/>
            <a:ext cx="218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Pneumonia (SIH/SUS)</a:t>
            </a:r>
            <a:endParaRPr sz="1100"/>
          </a:p>
        </p:txBody>
      </p:sp>
      <p:sp>
        <p:nvSpPr>
          <p:cNvPr id="247" name="Google Shape;247;g3f8d3f5ab08_1_129"/>
          <p:cNvSpPr txBox="1"/>
          <p:nvPr/>
        </p:nvSpPr>
        <p:spPr>
          <a:xfrm>
            <a:off x="521494" y="2175816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no Recorte SP</a:t>
            </a:r>
            <a:endParaRPr sz="1100"/>
          </a:p>
        </p:txBody>
      </p:sp>
      <p:sp>
        <p:nvSpPr>
          <p:cNvPr id="248" name="Google Shape;248;g3f8d3f5ab08_1_129"/>
          <p:cNvSpPr txBox="1"/>
          <p:nvPr/>
        </p:nvSpPr>
        <p:spPr>
          <a:xfrm>
            <a:off x="521494" y="2332979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19.605 internações (8,54d média)</a:t>
            </a:r>
            <a:endParaRPr sz="1100"/>
          </a:p>
        </p:txBody>
      </p:sp>
      <p:sp>
        <p:nvSpPr>
          <p:cNvPr id="249" name="Google Shape;249;g3f8d3f5ab08_1_129"/>
          <p:cNvSpPr txBox="1"/>
          <p:nvPr/>
        </p:nvSpPr>
        <p:spPr>
          <a:xfrm>
            <a:off x="521494" y="2547291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Dias-Leito Evitáveis</a:t>
            </a:r>
            <a:endParaRPr sz="1100"/>
          </a:p>
        </p:txBody>
      </p:sp>
      <p:sp>
        <p:nvSpPr>
          <p:cNvPr id="250" name="Google Shape;250;g3f8d3f5ab08_1_129"/>
          <p:cNvSpPr txBox="1"/>
          <p:nvPr/>
        </p:nvSpPr>
        <p:spPr>
          <a:xfrm>
            <a:off x="521494" y="2704454"/>
            <a:ext cx="29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17C5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30.192 dias no total</a:t>
            </a:r>
            <a:endParaRPr sz="1100">
              <a:solidFill>
                <a:srgbClr val="E17C5B"/>
              </a:solidFill>
            </a:endParaRPr>
          </a:p>
        </p:txBody>
      </p:sp>
      <p:sp>
        <p:nvSpPr>
          <p:cNvPr id="251" name="Google Shape;251;g3f8d3f5ab08_1_129"/>
          <p:cNvSpPr txBox="1"/>
          <p:nvPr/>
        </p:nvSpPr>
        <p:spPr>
          <a:xfrm>
            <a:off x="521494" y="2990204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Capacidade Liberada</a:t>
            </a:r>
            <a:endParaRPr sz="1100"/>
          </a:p>
        </p:txBody>
      </p:sp>
      <p:sp>
        <p:nvSpPr>
          <p:cNvPr id="252" name="Google Shape;252;g3f8d3f5ab08_1_129"/>
          <p:cNvSpPr txBox="1"/>
          <p:nvPr/>
        </p:nvSpPr>
        <p:spPr>
          <a:xfrm>
            <a:off x="521494" y="3147366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50 leitos</a:t>
            </a:r>
            <a:r>
              <a:rPr b="1"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equivalentes</a:t>
            </a:r>
            <a:endParaRPr sz="1100"/>
          </a:p>
        </p:txBody>
      </p:sp>
      <p:sp>
        <p:nvSpPr>
          <p:cNvPr id="253" name="Google Shape;253;g3f8d3f5ab08_1_129"/>
          <p:cNvSpPr txBox="1"/>
          <p:nvPr/>
        </p:nvSpPr>
        <p:spPr>
          <a:xfrm>
            <a:off x="521494" y="3361679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Financeiro Projetado </a:t>
            </a:r>
            <a:endParaRPr sz="1100">
              <a:solidFill>
                <a:srgbClr val="64748B"/>
              </a:solidFill>
            </a:endParaRPr>
          </a:p>
        </p:txBody>
      </p:sp>
      <p:sp>
        <p:nvSpPr>
          <p:cNvPr id="254" name="Google Shape;254;g3f8d3f5ab08_1_129"/>
          <p:cNvSpPr txBox="1"/>
          <p:nvPr/>
        </p:nvSpPr>
        <p:spPr>
          <a:xfrm>
            <a:off x="521494" y="3518841"/>
            <a:ext cx="29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R$ 10,59 Milhões</a:t>
            </a:r>
            <a:endParaRPr sz="1100"/>
          </a:p>
        </p:txBody>
      </p:sp>
      <p:sp>
        <p:nvSpPr>
          <p:cNvPr id="255" name="Google Shape;255;g3f8d3f5ab08_1_129"/>
          <p:cNvSpPr txBox="1"/>
          <p:nvPr/>
        </p:nvSpPr>
        <p:spPr>
          <a:xfrm>
            <a:off x="3388481" y="2175816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no Recorte SP</a:t>
            </a:r>
            <a:endParaRPr sz="1100"/>
          </a:p>
        </p:txBody>
      </p:sp>
      <p:sp>
        <p:nvSpPr>
          <p:cNvPr id="256" name="Google Shape;256;g3f8d3f5ab08_1_129"/>
          <p:cNvSpPr txBox="1"/>
          <p:nvPr/>
        </p:nvSpPr>
        <p:spPr>
          <a:xfrm>
            <a:off x="3388481" y="2332979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9.889 internações (7,53d média)</a:t>
            </a:r>
            <a:endParaRPr sz="1100"/>
          </a:p>
        </p:txBody>
      </p:sp>
      <p:sp>
        <p:nvSpPr>
          <p:cNvPr id="257" name="Google Shape;257;g3f8d3f5ab08_1_129"/>
          <p:cNvSpPr txBox="1"/>
          <p:nvPr/>
        </p:nvSpPr>
        <p:spPr>
          <a:xfrm>
            <a:off x="3388481" y="2547291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Dias-Leito Evitáveis</a:t>
            </a:r>
            <a:endParaRPr sz="1100"/>
          </a:p>
        </p:txBody>
      </p:sp>
      <p:sp>
        <p:nvSpPr>
          <p:cNvPr id="258" name="Google Shape;258;g3f8d3f5ab08_1_129"/>
          <p:cNvSpPr txBox="1"/>
          <p:nvPr/>
        </p:nvSpPr>
        <p:spPr>
          <a:xfrm>
            <a:off x="3388481" y="2704454"/>
            <a:ext cx="29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25.019 dias no total</a:t>
            </a:r>
            <a:endParaRPr sz="1100">
              <a:solidFill>
                <a:srgbClr val="E07A5F"/>
              </a:solidFill>
            </a:endParaRPr>
          </a:p>
        </p:txBody>
      </p:sp>
      <p:sp>
        <p:nvSpPr>
          <p:cNvPr id="259" name="Google Shape;259;g3f8d3f5ab08_1_129"/>
          <p:cNvSpPr txBox="1"/>
          <p:nvPr/>
        </p:nvSpPr>
        <p:spPr>
          <a:xfrm>
            <a:off x="3388481" y="2990204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Capacidade Liberada</a:t>
            </a:r>
            <a:endParaRPr sz="1100"/>
          </a:p>
        </p:txBody>
      </p:sp>
      <p:sp>
        <p:nvSpPr>
          <p:cNvPr id="260" name="Google Shape;260;g3f8d3f5ab08_1_129"/>
          <p:cNvSpPr txBox="1"/>
          <p:nvPr/>
        </p:nvSpPr>
        <p:spPr>
          <a:xfrm>
            <a:off x="3388481" y="3147366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41 leitos</a:t>
            </a:r>
            <a:r>
              <a:rPr b="1"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equivalentes</a:t>
            </a:r>
            <a:endParaRPr sz="1100"/>
          </a:p>
        </p:txBody>
      </p:sp>
      <p:sp>
        <p:nvSpPr>
          <p:cNvPr id="261" name="Google Shape;261;g3f8d3f5ab08_1_129"/>
          <p:cNvSpPr txBox="1"/>
          <p:nvPr/>
        </p:nvSpPr>
        <p:spPr>
          <a:xfrm>
            <a:off x="3388481" y="3361679"/>
            <a:ext cx="2958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Financeiro Projetado</a:t>
            </a:r>
            <a:endParaRPr sz="1100"/>
          </a:p>
        </p:txBody>
      </p:sp>
      <p:sp>
        <p:nvSpPr>
          <p:cNvPr id="262" name="Google Shape;262;g3f8d3f5ab08_1_129"/>
          <p:cNvSpPr txBox="1"/>
          <p:nvPr/>
        </p:nvSpPr>
        <p:spPr>
          <a:xfrm>
            <a:off x="3388481" y="3518841"/>
            <a:ext cx="29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R$ 2,44 Milhões</a:t>
            </a:r>
            <a:endParaRPr sz="1100"/>
          </a:p>
        </p:txBody>
      </p:sp>
      <p:sp>
        <p:nvSpPr>
          <p:cNvPr id="263" name="Google Shape;263;g3f8d3f5ab08_1_129"/>
          <p:cNvSpPr txBox="1"/>
          <p:nvPr/>
        </p:nvSpPr>
        <p:spPr>
          <a:xfrm>
            <a:off x="6255469" y="2175816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 no Recorte SP</a:t>
            </a:r>
            <a:endParaRPr sz="1100"/>
          </a:p>
        </p:txBody>
      </p:sp>
      <p:sp>
        <p:nvSpPr>
          <p:cNvPr id="264" name="Google Shape;264;g3f8d3f5ab08_1_129"/>
          <p:cNvSpPr txBox="1"/>
          <p:nvPr/>
        </p:nvSpPr>
        <p:spPr>
          <a:xfrm>
            <a:off x="6255469" y="2332979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23.888 internações (9,30d média)</a:t>
            </a:r>
            <a:endParaRPr sz="1100"/>
          </a:p>
        </p:txBody>
      </p:sp>
      <p:sp>
        <p:nvSpPr>
          <p:cNvPr id="265" name="Google Shape;265;g3f8d3f5ab08_1_129"/>
          <p:cNvSpPr txBox="1"/>
          <p:nvPr/>
        </p:nvSpPr>
        <p:spPr>
          <a:xfrm>
            <a:off x="6255469" y="2547291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Dias-Leito Evitáveis</a:t>
            </a:r>
            <a:endParaRPr sz="1100"/>
          </a:p>
        </p:txBody>
      </p:sp>
      <p:sp>
        <p:nvSpPr>
          <p:cNvPr id="266" name="Google Shape;266;g3f8d3f5ab08_1_129"/>
          <p:cNvSpPr txBox="1"/>
          <p:nvPr/>
        </p:nvSpPr>
        <p:spPr>
          <a:xfrm>
            <a:off x="6255469" y="2704454"/>
            <a:ext cx="28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7A5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78.830 dias no total</a:t>
            </a:r>
            <a:endParaRPr sz="1100">
              <a:solidFill>
                <a:srgbClr val="E07A5F"/>
              </a:solidFill>
            </a:endParaRPr>
          </a:p>
        </p:txBody>
      </p:sp>
      <p:sp>
        <p:nvSpPr>
          <p:cNvPr id="267" name="Google Shape;267;g3f8d3f5ab08_1_129"/>
          <p:cNvSpPr txBox="1"/>
          <p:nvPr/>
        </p:nvSpPr>
        <p:spPr>
          <a:xfrm>
            <a:off x="6255469" y="2990204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Capacidade Liberada</a:t>
            </a:r>
            <a:endParaRPr sz="1100"/>
          </a:p>
        </p:txBody>
      </p:sp>
      <p:sp>
        <p:nvSpPr>
          <p:cNvPr id="268" name="Google Shape;268;g3f8d3f5ab08_1_129"/>
          <p:cNvSpPr txBox="1"/>
          <p:nvPr/>
        </p:nvSpPr>
        <p:spPr>
          <a:xfrm>
            <a:off x="6255469" y="3147366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129 leitos</a:t>
            </a:r>
            <a:r>
              <a:rPr b="1"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equivalentes</a:t>
            </a:r>
            <a:endParaRPr sz="1100"/>
          </a:p>
        </p:txBody>
      </p:sp>
      <p:sp>
        <p:nvSpPr>
          <p:cNvPr id="269" name="Google Shape;269;g3f8d3f5ab08_1_129"/>
          <p:cNvSpPr txBox="1"/>
          <p:nvPr/>
        </p:nvSpPr>
        <p:spPr>
          <a:xfrm>
            <a:off x="6255469" y="3361679"/>
            <a:ext cx="2888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Financeiro Projetado</a:t>
            </a:r>
            <a:endParaRPr sz="1100"/>
          </a:p>
        </p:txBody>
      </p:sp>
      <p:sp>
        <p:nvSpPr>
          <p:cNvPr id="270" name="Google Shape;270;g3f8d3f5ab08_1_129"/>
          <p:cNvSpPr txBox="1"/>
          <p:nvPr/>
        </p:nvSpPr>
        <p:spPr>
          <a:xfrm>
            <a:off x="6255469" y="3518841"/>
            <a:ext cx="2888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≈ R$ 14,60 Milhões</a:t>
            </a:r>
            <a:endParaRPr sz="1100"/>
          </a:p>
        </p:txBody>
      </p:sp>
      <p:pic>
        <p:nvPicPr>
          <p:cNvPr id="271" name="Google Shape;271;g3f8d3f5ab08_1_1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27275" y="399825"/>
            <a:ext cx="1173600" cy="4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f8d3f5ab08_1_129"/>
          <p:cNvSpPr/>
          <p:nvPr/>
        </p:nvSpPr>
        <p:spPr>
          <a:xfrm>
            <a:off x="2089450" y="1136775"/>
            <a:ext cx="5577900" cy="228600"/>
          </a:xfrm>
          <a:prstGeom prst="roundRect">
            <a:avLst>
              <a:gd fmla="val 18750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3" name="Google Shape;273;g3f8d3f5ab08_1_1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53463" y="1201049"/>
            <a:ext cx="85725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f8d3f5ab08_1_129"/>
          <p:cNvSpPr txBox="1"/>
          <p:nvPr/>
        </p:nvSpPr>
        <p:spPr>
          <a:xfrm>
            <a:off x="2332246" y="1189550"/>
            <a:ext cx="6231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Jan/2025 – Ago/2026 (20 Meses) </a:t>
            </a:r>
            <a:r>
              <a:rPr b="1"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</a:t>
            </a:r>
            <a:r>
              <a:rPr b="1" lang="en-US" sz="8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aplicação da mesma hipótese do DataCross ao volume observado</a:t>
            </a:r>
            <a:endParaRPr b="1" sz="85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75" name="Google Shape;275;g3f8d3f5ab08_1_129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8d3f5ab08_1_176"/>
          <p:cNvSpPr/>
          <p:nvPr/>
        </p:nvSpPr>
        <p:spPr>
          <a:xfrm>
            <a:off x="342900" y="3925268"/>
            <a:ext cx="8458200" cy="863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f8d3f5ab08_1_176"/>
          <p:cNvSpPr/>
          <p:nvPr/>
        </p:nvSpPr>
        <p:spPr>
          <a:xfrm>
            <a:off x="342900" y="3925279"/>
            <a:ext cx="84582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8d3f5ab08_1_176"/>
          <p:cNvSpPr/>
          <p:nvPr/>
        </p:nvSpPr>
        <p:spPr>
          <a:xfrm>
            <a:off x="342900" y="2894205"/>
            <a:ext cx="4157700" cy="800100"/>
          </a:xfrm>
          <a:prstGeom prst="roundRect">
            <a:avLst>
              <a:gd fmla="val 714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3f8d3f5ab08_1_176"/>
          <p:cNvSpPr/>
          <p:nvPr/>
        </p:nvSpPr>
        <p:spPr>
          <a:xfrm>
            <a:off x="4643438" y="2894205"/>
            <a:ext cx="4157700" cy="800100"/>
          </a:xfrm>
          <a:prstGeom prst="roundRect">
            <a:avLst>
              <a:gd fmla="val 714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8d3f5ab08_1_176"/>
          <p:cNvSpPr/>
          <p:nvPr/>
        </p:nvSpPr>
        <p:spPr>
          <a:xfrm>
            <a:off x="342900" y="1649944"/>
            <a:ext cx="833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8d3f5ab08_1_176"/>
          <p:cNvSpPr/>
          <p:nvPr/>
        </p:nvSpPr>
        <p:spPr>
          <a:xfrm>
            <a:off x="1176374" y="1649944"/>
            <a:ext cx="1739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8d3f5ab08_1_176"/>
          <p:cNvSpPr/>
          <p:nvPr/>
        </p:nvSpPr>
        <p:spPr>
          <a:xfrm>
            <a:off x="2915766" y="1486569"/>
            <a:ext cx="1413234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8d3f5ab08_1_176"/>
          <p:cNvSpPr/>
          <p:nvPr/>
        </p:nvSpPr>
        <p:spPr>
          <a:xfrm>
            <a:off x="4329001" y="1486569"/>
            <a:ext cx="2065548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8d3f5ab08_1_176"/>
          <p:cNvSpPr/>
          <p:nvPr/>
        </p:nvSpPr>
        <p:spPr>
          <a:xfrm>
            <a:off x="6394549" y="1486569"/>
            <a:ext cx="24065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8d3f5ab08_1_176"/>
          <p:cNvSpPr/>
          <p:nvPr/>
        </p:nvSpPr>
        <p:spPr>
          <a:xfrm>
            <a:off x="342900" y="1992844"/>
            <a:ext cx="833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f8d3f5ab08_1_176"/>
          <p:cNvSpPr/>
          <p:nvPr/>
        </p:nvSpPr>
        <p:spPr>
          <a:xfrm>
            <a:off x="1176374" y="1992844"/>
            <a:ext cx="1739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3f8d3f5ab08_1_176"/>
          <p:cNvSpPr/>
          <p:nvPr/>
        </p:nvSpPr>
        <p:spPr>
          <a:xfrm>
            <a:off x="2915766" y="1829469"/>
            <a:ext cx="1413234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8d3f5ab08_1_176"/>
          <p:cNvSpPr/>
          <p:nvPr/>
        </p:nvSpPr>
        <p:spPr>
          <a:xfrm>
            <a:off x="4329001" y="1829469"/>
            <a:ext cx="2065548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8d3f5ab08_1_176"/>
          <p:cNvSpPr/>
          <p:nvPr/>
        </p:nvSpPr>
        <p:spPr>
          <a:xfrm>
            <a:off x="6394549" y="1829469"/>
            <a:ext cx="24065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f8d3f5ab08_1_176"/>
          <p:cNvSpPr/>
          <p:nvPr/>
        </p:nvSpPr>
        <p:spPr>
          <a:xfrm>
            <a:off x="342900" y="2335744"/>
            <a:ext cx="833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f8d3f5ab08_1_176"/>
          <p:cNvSpPr/>
          <p:nvPr/>
        </p:nvSpPr>
        <p:spPr>
          <a:xfrm>
            <a:off x="1176374" y="2335744"/>
            <a:ext cx="17394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8d3f5ab08_1_176"/>
          <p:cNvSpPr/>
          <p:nvPr/>
        </p:nvSpPr>
        <p:spPr>
          <a:xfrm>
            <a:off x="2915766" y="2172369"/>
            <a:ext cx="1413234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8d3f5ab08_1_176"/>
          <p:cNvSpPr/>
          <p:nvPr/>
        </p:nvSpPr>
        <p:spPr>
          <a:xfrm>
            <a:off x="4329001" y="2172369"/>
            <a:ext cx="2065548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8d3f5ab08_1_176"/>
          <p:cNvSpPr/>
          <p:nvPr/>
        </p:nvSpPr>
        <p:spPr>
          <a:xfrm>
            <a:off x="6394549" y="2172369"/>
            <a:ext cx="24065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8d3f5ab08_1_176"/>
          <p:cNvSpPr/>
          <p:nvPr/>
        </p:nvSpPr>
        <p:spPr>
          <a:xfrm>
            <a:off x="342900" y="2515269"/>
            <a:ext cx="833474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8d3f5ab08_1_176"/>
          <p:cNvSpPr/>
          <p:nvPr/>
        </p:nvSpPr>
        <p:spPr>
          <a:xfrm>
            <a:off x="1176374" y="2515269"/>
            <a:ext cx="1739391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8d3f5ab08_1_176"/>
          <p:cNvSpPr/>
          <p:nvPr/>
        </p:nvSpPr>
        <p:spPr>
          <a:xfrm>
            <a:off x="2915766" y="2515269"/>
            <a:ext cx="1413234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8d3f5ab08_1_176"/>
          <p:cNvSpPr/>
          <p:nvPr/>
        </p:nvSpPr>
        <p:spPr>
          <a:xfrm>
            <a:off x="4329001" y="2515269"/>
            <a:ext cx="2065548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f8d3f5ab08_1_176"/>
          <p:cNvSpPr/>
          <p:nvPr/>
        </p:nvSpPr>
        <p:spPr>
          <a:xfrm>
            <a:off x="6394549" y="2515269"/>
            <a:ext cx="24065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4" name="Google Shape;304;g3f8d3f5ab08_1_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344" y="3037080"/>
            <a:ext cx="85725" cy="100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g3f8d3f5ab08_1_1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881" y="3037080"/>
            <a:ext cx="78581" cy="1000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6" name="Google Shape;306;g3f8d3f5ab08_1_176"/>
          <p:cNvGraphicFramePr/>
          <p:nvPr/>
        </p:nvGraphicFramePr>
        <p:xfrm>
          <a:off x="342900" y="10105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{6029F62F-F4EC-4B69-A051-341880A56FE6}</a:tableStyleId>
              </a:tblPr>
              <a:tblGrid>
                <a:gridCol w="833475"/>
                <a:gridCol w="1739400"/>
                <a:gridCol w="1413225"/>
                <a:gridCol w="2065550"/>
                <a:gridCol w="2406525"/>
              </a:tblGrid>
              <a:tr h="3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Patologia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Permanência (Obs. vs Meta)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Custo/Dia Observado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Simulação DataCross (10k Casos)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Recorte Real SIH/SUS SP (53.382 Casos)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3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AVC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8,54d vs 7,00d (-1,54d)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R$ 350,64 / dia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15.400 dias | 25 leitos | R$ 5,40M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30.192 dias | 50 leitos | R$ 10,59M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ITU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7,53d vs 5,00d (-2,53d)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R$ 97,45 / dia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25.300 dias | 42 leitos | R$ 2,47M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25.019 dias | 41 leitos | R$ 2,44M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Pneumonia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9,30d vs 6,00d (-3,30d)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R$ 185,25 / dia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33.000 dias | 54 leitos | R$ 6,11M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78.830 dias | 129 leitos | R$ 14,60M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E293B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73.700 dias | 121 leitos | R$ 13,98M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0369A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134.041 dias | 220 leitos | R$ 27,63M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g3f8d3f5ab08_1_176"/>
          <p:cNvSpPr txBox="1"/>
          <p:nvPr/>
        </p:nvSpPr>
        <p:spPr>
          <a:xfrm>
            <a:off x="485368" y="4066074"/>
            <a:ext cx="80175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Fonte Oficial do SUS:</a:t>
            </a: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Ministério da Saúde — SIH/SUS / DATASUS, Procedimentos Hospitalares do SUS por local de internação (AIH). </a:t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URL: </a:t>
            </a:r>
            <a:r>
              <a:rPr lang="en-US" sz="800" u="sng">
                <a:solidFill>
                  <a:schemeClr val="hlink"/>
                </a:solidFill>
                <a:latin typeface="Plus Jakarta Sans"/>
                <a:ea typeface="Plus Jakarta Sans"/>
                <a:cs typeface="Plus Jakarta Sans"/>
                <a:sym typeface="Plus Jakarta Sans"/>
                <a:hlinkClick r:id="rId5"/>
              </a:rPr>
              <a:t>https://tabnet.datasus.gov.br/cgi/sih/Proced_hosp_loc_int_2008.pdf</a:t>
            </a: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Recorte Analítico: </a:t>
            </a: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SIH_SP_Pneumonia_ITU_AVC_Formatado.xlsx (Jan/2025–Ago/2026).</a:t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8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 projeções de economia não são valores de economia publicados oficialmente pelo Ministério da Saúde.</a:t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8" name="Google Shape;308;g3f8d3f5ab08_1_176"/>
          <p:cNvSpPr txBox="1"/>
          <p:nvPr/>
        </p:nvSpPr>
        <p:spPr>
          <a:xfrm>
            <a:off x="596500" y="3021888"/>
            <a:ext cx="4000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Impacto Paciente e Fila:</a:t>
            </a:r>
            <a:endParaRPr sz="1100"/>
          </a:p>
        </p:txBody>
      </p:sp>
      <p:sp>
        <p:nvSpPr>
          <p:cNvPr id="309" name="Google Shape;309;g3f8d3f5ab08_1_176"/>
          <p:cNvSpPr txBox="1"/>
          <p:nvPr/>
        </p:nvSpPr>
        <p:spPr>
          <a:xfrm>
            <a:off x="4887313" y="3033155"/>
            <a:ext cx="40005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Método de Cálculo Financeiro:</a:t>
            </a:r>
            <a:endParaRPr sz="1100"/>
          </a:p>
        </p:txBody>
      </p:sp>
      <p:sp>
        <p:nvSpPr>
          <p:cNvPr id="310" name="Google Shape;310;g3f8d3f5ab08_1_176"/>
          <p:cNvSpPr txBox="1"/>
          <p:nvPr/>
        </p:nvSpPr>
        <p:spPr>
          <a:xfrm>
            <a:off x="342900" y="626350"/>
            <a:ext cx="4741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07A5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CONSOLIDAÇÃO E METODOLOGIA</a:t>
            </a:r>
            <a:endParaRPr sz="1100">
              <a:solidFill>
                <a:srgbClr val="E07A5F"/>
              </a:solidFill>
            </a:endParaRPr>
          </a:p>
        </p:txBody>
      </p:sp>
      <p:sp>
        <p:nvSpPr>
          <p:cNvPr id="311" name="Google Shape;311;g3f8d3f5ab08_1_176"/>
          <p:cNvSpPr txBox="1"/>
          <p:nvPr/>
        </p:nvSpPr>
        <p:spPr>
          <a:xfrm>
            <a:off x="342900" y="316244"/>
            <a:ext cx="4978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Síntese Comparativa e Fontes Integrais</a:t>
            </a:r>
            <a:endParaRPr sz="1100"/>
          </a:p>
        </p:txBody>
      </p:sp>
      <p:sp>
        <p:nvSpPr>
          <p:cNvPr id="312" name="Google Shape;312;g3f8d3f5ab08_1_176"/>
          <p:cNvSpPr txBox="1"/>
          <p:nvPr/>
        </p:nvSpPr>
        <p:spPr>
          <a:xfrm>
            <a:off x="485375" y="3226639"/>
            <a:ext cx="37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DataCross antecipa a triagem; alta ou transferência depende sempre de validação médica. O ganho em leitos</a:t>
            </a:r>
            <a:r>
              <a:rPr lang="en-US" sz="8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equivalentes aumenta a capacidade média, mas a base não mede o tempo individual na fila.</a:t>
            </a:r>
            <a:endParaRPr sz="1100"/>
          </a:p>
        </p:txBody>
      </p:sp>
      <p:sp>
        <p:nvSpPr>
          <p:cNvPr id="313" name="Google Shape;313;g3f8d3f5ab08_1_176"/>
          <p:cNvSpPr txBox="1"/>
          <p:nvPr/>
        </p:nvSpPr>
        <p:spPr>
          <a:xfrm>
            <a:off x="4764875" y="3226639"/>
            <a:ext cx="379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executado: </a:t>
            </a:r>
            <a:r>
              <a:rPr b="0" i="1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dias-leito evitáveis × custo médio por dia observado no próprio recorte</a:t>
            </a:r>
            <a:r>
              <a:rPr b="0" i="0" lang="en-US" sz="80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Não representa economia orçamentária publicada do Ministério da Saúde.</a:t>
            </a:r>
            <a:endParaRPr sz="1100"/>
          </a:p>
        </p:txBody>
      </p:sp>
      <p:pic>
        <p:nvPicPr>
          <p:cNvPr id="314" name="Google Shape;314;g3f8d3f5ab08_1_1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7550" y="352775"/>
            <a:ext cx="1173600" cy="45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f8d3f5ab08_1_176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a7ef08543_2_83"/>
          <p:cNvSpPr txBox="1"/>
          <p:nvPr/>
        </p:nvSpPr>
        <p:spPr>
          <a:xfrm>
            <a:off x="457200" y="4833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Proposta Atualizada da Solução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a7ef08543_2_83"/>
          <p:cNvSpPr txBox="1"/>
          <p:nvPr/>
        </p:nvSpPr>
        <p:spPr>
          <a:xfrm>
            <a:off x="457200" y="1101773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ABORDAGEM ADOTADA —</a:t>
            </a:r>
            <a:r>
              <a:rPr b="1" i="0" lang="en-US" sz="10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 DO AUTOMÁTICO AO ASSISTIDO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a7ef08543_2_83"/>
          <p:cNvSpPr txBox="1"/>
          <p:nvPr/>
        </p:nvSpPr>
        <p:spPr>
          <a:xfrm>
            <a:off x="457200" y="1398954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lang="en-US" sz="113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1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Evoluímos de um modelo de automação de processos para um Sistema de Suporte à Decisão Clínica (CDSS): no MVP, a IA prioriza a triagem inteligente via PLN e entrega insights ao médico assistente</a:t>
            </a:r>
            <a:r>
              <a:rPr lang="en-US" sz="113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após a validação humana o registro no SIRESP é feito manualmente, garantindo segurança ética. </a:t>
            </a:r>
            <a:endParaRPr b="0" i="0" sz="1130" u="none" cap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lang="en-US" sz="113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0" lang="en-US" sz="11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 integração direta via API com CROSS/SIRESP é a visão de evolução para a fase de escala do projeto.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g3fa7ef08543_2_83"/>
          <p:cNvSpPr/>
          <p:nvPr/>
        </p:nvSpPr>
        <p:spPr>
          <a:xfrm>
            <a:off x="457200" y="2670048"/>
            <a:ext cx="8229600" cy="1783080"/>
          </a:xfrm>
          <a:prstGeom prst="roundRect">
            <a:avLst>
              <a:gd fmla="val 3590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fa7ef08543_2_83"/>
          <p:cNvSpPr txBox="1"/>
          <p:nvPr/>
        </p:nvSpPr>
        <p:spPr>
          <a:xfrm>
            <a:off x="457200" y="2395753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ARQUITETURA DA SOLUÇÃO </a:t>
            </a:r>
            <a:r>
              <a:rPr b="1" lang="en-US" sz="1050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APLICADA EM HOSPITAIS REAIS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architecture.png" id="326" name="Google Shape;326;g3fa7ef08543_2_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163" y="2706013"/>
            <a:ext cx="7461676" cy="17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fa7ef08543_2_83"/>
          <p:cNvSpPr txBox="1"/>
          <p:nvPr/>
        </p:nvSpPr>
        <p:spPr>
          <a:xfrm>
            <a:off x="594360" y="4526280"/>
            <a:ext cx="7955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Fontes de dados: prontuário eletrônico dos hospitais</a:t>
            </a:r>
            <a:r>
              <a:rPr i="1"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DATASUS/CNES e SIRESP.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a7ef08543_2_83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g3fa7ef08543_2_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aac79f395_1_0"/>
          <p:cNvSpPr txBox="1"/>
          <p:nvPr/>
        </p:nvSpPr>
        <p:spPr>
          <a:xfrm>
            <a:off x="376200" y="42487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Proposta Atualizada da Solução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aac79f395_1_0"/>
          <p:cNvSpPr txBox="1"/>
          <p:nvPr/>
        </p:nvSpPr>
        <p:spPr>
          <a:xfrm>
            <a:off x="416700" y="1095948"/>
            <a:ext cx="8229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ABORDAGEM ADOTADA </a:t>
            </a:r>
            <a:r>
              <a:rPr b="1" lang="en-US" sz="1050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PARA A </a:t>
            </a:r>
            <a:r>
              <a:rPr b="1" lang="en-US" sz="1050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REALIZAÇÃO</a:t>
            </a:r>
            <a:r>
              <a:rPr b="1" lang="en-US" sz="1050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 DO PROJETO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3faac79f395_1_0"/>
          <p:cNvSpPr txBox="1"/>
          <p:nvPr/>
        </p:nvSpPr>
        <p:spPr>
          <a:xfrm>
            <a:off x="457200" y="1501178"/>
            <a:ext cx="8229600" cy="10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Para fins de teste, e considerando o uso de dados sensíveis, pulamos as primeiras etapas e trabalhamos diretamente com dados fictícios já tratados.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A arquitetura completa apresentada anteriormente representa a estrutura necessária para o funcionamento em um hospital ativo. No entanto, no desenvolvimento deste projeto acadêmico pelo fato de os dados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já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estarem tratados, avançamos direto da preparação dos prontuários para o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Autonomous Database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e, a partir desse ponto, o fluxo seguiu exatamente a mesma arquitetura. </a:t>
            </a:r>
            <a:endParaRPr sz="113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aac79f395_1_0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g3faac79f395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9650" y="2765016"/>
            <a:ext cx="5552015" cy="2195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faac79f395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a7ef08543_2_97"/>
          <p:cNvSpPr txBox="1"/>
          <p:nvPr/>
        </p:nvSpPr>
        <p:spPr>
          <a:xfrm>
            <a:off x="452638" y="4348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Tecnologias, Análises e Indicadores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3fa7ef08543_2_97"/>
          <p:cNvSpPr/>
          <p:nvPr/>
        </p:nvSpPr>
        <p:spPr>
          <a:xfrm>
            <a:off x="457200" y="1298448"/>
            <a:ext cx="1956816" cy="896112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fa7ef08543_2_97"/>
          <p:cNvSpPr/>
          <p:nvPr/>
        </p:nvSpPr>
        <p:spPr>
          <a:xfrm>
            <a:off x="585216" y="1417320"/>
            <a:ext cx="310896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fa7ef08543_2_97"/>
          <p:cNvSpPr txBox="1"/>
          <p:nvPr/>
        </p:nvSpPr>
        <p:spPr>
          <a:xfrm>
            <a:off x="585216" y="1517904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Oracle FHIR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3fa7ef08543_2_97"/>
          <p:cNvSpPr txBox="1"/>
          <p:nvPr/>
        </p:nvSpPr>
        <p:spPr>
          <a:xfrm>
            <a:off x="585216" y="1713186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en-US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Ponte de interoperabilidade que traduz os dados do Tasy para um formato universal.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fa7ef08543_2_97"/>
          <p:cNvSpPr/>
          <p:nvPr/>
        </p:nvSpPr>
        <p:spPr>
          <a:xfrm>
            <a:off x="2542032" y="1298448"/>
            <a:ext cx="1956816" cy="896112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fa7ef08543_2_97"/>
          <p:cNvSpPr/>
          <p:nvPr/>
        </p:nvSpPr>
        <p:spPr>
          <a:xfrm>
            <a:off x="2670048" y="1417320"/>
            <a:ext cx="310896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fa7ef08543_2_97"/>
          <p:cNvSpPr txBox="1"/>
          <p:nvPr/>
        </p:nvSpPr>
        <p:spPr>
          <a:xfrm>
            <a:off x="2670048" y="1517904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OCI Functions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fa7ef08543_2_97"/>
          <p:cNvSpPr txBox="1"/>
          <p:nvPr/>
        </p:nvSpPr>
        <p:spPr>
          <a:xfrm>
            <a:off x="2670048" y="1723311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en-US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Funções serverless que extraem os dados em lote e disparam o processamento.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a7ef08543_2_97"/>
          <p:cNvSpPr/>
          <p:nvPr/>
        </p:nvSpPr>
        <p:spPr>
          <a:xfrm>
            <a:off x="4626864" y="1298448"/>
            <a:ext cx="1956816" cy="896112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a7ef08543_2_97"/>
          <p:cNvSpPr/>
          <p:nvPr/>
        </p:nvSpPr>
        <p:spPr>
          <a:xfrm>
            <a:off x="4754880" y="1417320"/>
            <a:ext cx="310896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a7ef08543_2_97"/>
          <p:cNvSpPr txBox="1"/>
          <p:nvPr/>
        </p:nvSpPr>
        <p:spPr>
          <a:xfrm>
            <a:off x="4754880" y="1517904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Object Storage Oracle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3fa7ef08543_2_97"/>
          <p:cNvSpPr txBox="1"/>
          <p:nvPr/>
        </p:nvSpPr>
        <p:spPr>
          <a:xfrm>
            <a:off x="4754880" y="1773936"/>
            <a:ext cx="17007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en-US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Repositório intermediário do JSON bruto, tolerante a falhas de rede.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fa7ef08543_2_97"/>
          <p:cNvSpPr/>
          <p:nvPr/>
        </p:nvSpPr>
        <p:spPr>
          <a:xfrm>
            <a:off x="6711696" y="1298448"/>
            <a:ext cx="1956816" cy="896112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fa7ef08543_2_97"/>
          <p:cNvSpPr/>
          <p:nvPr/>
        </p:nvSpPr>
        <p:spPr>
          <a:xfrm>
            <a:off x="6839712" y="1417320"/>
            <a:ext cx="310896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fa7ef08543_2_97"/>
          <p:cNvSpPr txBox="1"/>
          <p:nvPr/>
        </p:nvSpPr>
        <p:spPr>
          <a:xfrm>
            <a:off x="6839712" y="1517904"/>
            <a:ext cx="17007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OCI Language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fa7ef08543_2_97"/>
          <p:cNvSpPr txBox="1"/>
          <p:nvPr/>
        </p:nvSpPr>
        <p:spPr>
          <a:xfrm>
            <a:off x="6839712" y="1773936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en-US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Serviço de PLN da Oracle que lê o texto clínico e extrai entidades diagnósticas.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fa7ef08543_2_97"/>
          <p:cNvSpPr/>
          <p:nvPr/>
        </p:nvSpPr>
        <p:spPr>
          <a:xfrm>
            <a:off x="1510200" y="2304288"/>
            <a:ext cx="1956900" cy="896100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fa7ef08543_2_97"/>
          <p:cNvSpPr/>
          <p:nvPr/>
        </p:nvSpPr>
        <p:spPr>
          <a:xfrm>
            <a:off x="1688841" y="2423160"/>
            <a:ext cx="310800" cy="5490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fa7ef08543_2_97"/>
          <p:cNvSpPr txBox="1"/>
          <p:nvPr/>
        </p:nvSpPr>
        <p:spPr>
          <a:xfrm>
            <a:off x="1648341" y="2523744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Oracle Autonomous DB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fa7ef08543_2_97"/>
          <p:cNvSpPr txBox="1"/>
          <p:nvPr/>
        </p:nvSpPr>
        <p:spPr>
          <a:xfrm>
            <a:off x="1658466" y="2739276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en-US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Repositório central: une dados relacionais e não estruturados em um único engine.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g3fa7ef08543_2_97"/>
          <p:cNvSpPr/>
          <p:nvPr/>
        </p:nvSpPr>
        <p:spPr>
          <a:xfrm>
            <a:off x="3584907" y="2304288"/>
            <a:ext cx="1956900" cy="896100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fa7ef08543_2_97"/>
          <p:cNvSpPr/>
          <p:nvPr/>
        </p:nvSpPr>
        <p:spPr>
          <a:xfrm>
            <a:off x="3783798" y="2423160"/>
            <a:ext cx="310800" cy="5490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fa7ef08543_2_97"/>
          <p:cNvSpPr txBox="1"/>
          <p:nvPr/>
        </p:nvSpPr>
        <p:spPr>
          <a:xfrm>
            <a:off x="3723048" y="2513619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Oracle APEX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g3fa7ef08543_2_97"/>
          <p:cNvSpPr txBox="1"/>
          <p:nvPr/>
        </p:nvSpPr>
        <p:spPr>
          <a:xfrm>
            <a:off x="3723048" y="2708901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en-US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Interface web low-code usada pelo médico regulador para validar as sugestões.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g3fa7ef08543_2_97"/>
          <p:cNvSpPr/>
          <p:nvPr/>
        </p:nvSpPr>
        <p:spPr>
          <a:xfrm>
            <a:off x="5669739" y="2304288"/>
            <a:ext cx="1956900" cy="896100"/>
          </a:xfrm>
          <a:prstGeom prst="roundRect">
            <a:avLst>
              <a:gd fmla="val 612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a7ef08543_2_97"/>
          <p:cNvSpPr/>
          <p:nvPr/>
        </p:nvSpPr>
        <p:spPr>
          <a:xfrm>
            <a:off x="5828130" y="2423160"/>
            <a:ext cx="310800" cy="5490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fa7ef08543_2_97"/>
          <p:cNvSpPr txBox="1"/>
          <p:nvPr/>
        </p:nvSpPr>
        <p:spPr>
          <a:xfrm>
            <a:off x="5828130" y="2523744"/>
            <a:ext cx="170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Python e SQL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a7ef08543_2_97"/>
          <p:cNvSpPr txBox="1"/>
          <p:nvPr/>
        </p:nvSpPr>
        <p:spPr>
          <a:xfrm>
            <a:off x="5838255" y="2779776"/>
            <a:ext cx="1700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770"/>
              <a:buFont typeface="Calibri"/>
              <a:buNone/>
            </a:pPr>
            <a:r>
              <a:rPr b="0" i="0" lang="en-US" sz="80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Linguagem do motor de scoring e da integração com a IA da Oracle.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fa7ef08543_2_97"/>
          <p:cNvSpPr/>
          <p:nvPr/>
        </p:nvSpPr>
        <p:spPr>
          <a:xfrm>
            <a:off x="457200" y="3483875"/>
            <a:ext cx="8229600" cy="1264800"/>
          </a:xfrm>
          <a:prstGeom prst="roundRect">
            <a:avLst>
              <a:gd fmla="val 5469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a7ef08543_2_97"/>
          <p:cNvSpPr txBox="1"/>
          <p:nvPr/>
        </p:nvSpPr>
        <p:spPr>
          <a:xfrm>
            <a:off x="658368" y="3615489"/>
            <a:ext cx="7772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950"/>
              <a:buFont typeface="Calibri"/>
              <a:buNone/>
            </a:pPr>
            <a:r>
              <a:rPr b="1" i="0" lang="en-US" sz="11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ANÁLISES E INDICADORES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fa7ef08543_2_97"/>
          <p:cNvSpPr txBox="1"/>
          <p:nvPr/>
        </p:nvSpPr>
        <p:spPr>
          <a:xfrm>
            <a:off x="658368" y="3874464"/>
            <a:ext cx="7818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"/>
              <a:buFont typeface="Calibri"/>
              <a:buNone/>
            </a:pPr>
            <a:r>
              <a:rPr b="0" i="0" lang="en-US" sz="10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motor de scoring cruza as evidências clínicas extraídas do prontuário com escalas de referência</a:t>
            </a:r>
            <a:r>
              <a:rPr lang="en-US" sz="106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(CID-10, Sinais Vitais, exames diagnosticos, dispositivos invasivos, terapia medicamentosa)</a:t>
            </a:r>
            <a:r>
              <a:rPr lang="en-US" sz="108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06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uma matriz de pontos ponderada, gerando um score auditável de elegibilidade para alta ou transferência. Os indicadores acompanhados para medir impacto são: maior rotatividade de leitos, redução do tempo de internação, queda no risco de complicações hospitalares e decisões de regulação mais rápidas.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3fa7ef08543_2_97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9" name="Google Shape;379;g3fa7ef08543_2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aac79f395_1_25"/>
          <p:cNvSpPr txBox="1"/>
          <p:nvPr/>
        </p:nvSpPr>
        <p:spPr>
          <a:xfrm>
            <a:off x="396288" y="240719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lang="en-US" sz="26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Score </a:t>
            </a:r>
            <a:r>
              <a:rPr b="1" lang="en-US" sz="26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detalhado</a:t>
            </a:r>
            <a:r>
              <a:rPr b="1" lang="en-US" sz="2600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faac79f395_1_25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7" name="Google Shape;387;g3faac79f395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7025" y="253275"/>
            <a:ext cx="1173600" cy="4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g3faac79f395_1_25" title="Captura de Tela 2026-09-12 às 20.28.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300" y="2154768"/>
            <a:ext cx="2777349" cy="215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faac79f395_1_25" title="Captura de Tela 2026-09-12 às 20.28.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8075" y="2173400"/>
            <a:ext cx="2807849" cy="21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g3faac79f395_1_25" title="Captura de Tela 2026-09-12 às 20.29.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5925" y="2122700"/>
            <a:ext cx="2725601" cy="213392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faac79f395_1_25"/>
          <p:cNvSpPr txBox="1"/>
          <p:nvPr/>
        </p:nvSpPr>
        <p:spPr>
          <a:xfrm>
            <a:off x="396300" y="735548"/>
            <a:ext cx="8380800" cy="12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As tabelas de pontuação detalham a conversão de cada parâmetro analisado em um score numérico. Com base no total obtido, o sistema categoriza o paciente em três faixas decisórias: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 a 100 pontos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(apto para avaliação de transferência, alta ou reabilitação)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 a 69 pontos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(reavaliação em 24 horas)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Abaixo de 40 pontos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(permanência na internação).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g3faac79f395_1_25"/>
          <p:cNvSpPr/>
          <p:nvPr/>
        </p:nvSpPr>
        <p:spPr>
          <a:xfrm>
            <a:off x="494275" y="4364900"/>
            <a:ext cx="8131500" cy="502800"/>
          </a:xfrm>
          <a:prstGeom prst="roundRect">
            <a:avLst>
              <a:gd fmla="val 5140" name="adj"/>
            </a:avLst>
          </a:prstGeom>
          <a:solidFill>
            <a:srgbClr val="0D1B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DEDE7"/>
              </a:highlight>
            </a:endParaRPr>
          </a:p>
        </p:txBody>
      </p:sp>
      <p:sp>
        <p:nvSpPr>
          <p:cNvPr id="393" name="Google Shape;393;g3faac79f395_1_25"/>
          <p:cNvSpPr/>
          <p:nvPr/>
        </p:nvSpPr>
        <p:spPr>
          <a:xfrm>
            <a:off x="396300" y="642244"/>
            <a:ext cx="2771700" cy="453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faac79f395_1_25"/>
          <p:cNvSpPr txBox="1"/>
          <p:nvPr/>
        </p:nvSpPr>
        <p:spPr>
          <a:xfrm>
            <a:off x="560543" y="4422552"/>
            <a:ext cx="80553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Toda a lógica de pontuação e classificação foi implementada em Python para integração automatizada ao fluxo da solução.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a7ef08543_2_140"/>
          <p:cNvSpPr txBox="1"/>
          <p:nvPr/>
        </p:nvSpPr>
        <p:spPr>
          <a:xfrm>
            <a:off x="457200" y="42255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Demonstração da Solução Funcionando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g3fa7ef08543_2_140"/>
          <p:cNvSpPr/>
          <p:nvPr/>
        </p:nvSpPr>
        <p:spPr>
          <a:xfrm>
            <a:off x="457200" y="1116198"/>
            <a:ext cx="8229600" cy="365700"/>
          </a:xfrm>
          <a:prstGeom prst="roundRect">
            <a:avLst>
              <a:gd fmla="val 15000" name="adj"/>
            </a:avLst>
          </a:prstGeom>
          <a:solidFill>
            <a:srgbClr val="FDE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fa7ef08543_2_140"/>
          <p:cNvSpPr txBox="1"/>
          <p:nvPr/>
        </p:nvSpPr>
        <p:spPr>
          <a:xfrm>
            <a:off x="594355" y="1116198"/>
            <a:ext cx="7863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Link </a:t>
            </a:r>
            <a:r>
              <a:rPr b="1" lang="en-US" sz="10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do APEX</a:t>
            </a:r>
            <a:r>
              <a:rPr b="1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b="1" i="0" lang="en-US" sz="10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clique aqui para acessar nosso sistema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fa7ef08543_2_140"/>
          <p:cNvSpPr/>
          <p:nvPr/>
        </p:nvSpPr>
        <p:spPr>
          <a:xfrm>
            <a:off x="457200" y="1828800"/>
            <a:ext cx="2624400" cy="29430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a7ef08543_2_140"/>
          <p:cNvSpPr txBox="1"/>
          <p:nvPr/>
        </p:nvSpPr>
        <p:spPr>
          <a:xfrm>
            <a:off x="594360" y="3172353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Fila de Triagem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fa7ef08543_2_140"/>
          <p:cNvSpPr txBox="1"/>
          <p:nvPr/>
        </p:nvSpPr>
        <p:spPr>
          <a:xfrm>
            <a:off x="594350" y="3473400"/>
            <a:ext cx="22749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82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Painel centralizado de prontuários organizados por nível de score, com prioridade para os pacientes qualificados pelo sistema como totalmente aptos para alta. A tela exibe as informações básicas do paciente, indica a 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presença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de eventuais bloqueios que 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impeçam</a:t>
            </a: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a alta e no topo o total de casos aguardando apenas a validação médica.</a:t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82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406" name="Google Shape;406;g3fa7ef08543_2_140"/>
          <p:cNvSpPr/>
          <p:nvPr/>
        </p:nvSpPr>
        <p:spPr>
          <a:xfrm>
            <a:off x="3264400" y="1828800"/>
            <a:ext cx="2624400" cy="29430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a7ef08543_2_140"/>
          <p:cNvSpPr txBox="1"/>
          <p:nvPr/>
        </p:nvSpPr>
        <p:spPr>
          <a:xfrm>
            <a:off x="3401656" y="3204679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Análise do Paciente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fa7ef08543_2_140"/>
          <p:cNvSpPr txBox="1"/>
          <p:nvPr/>
        </p:nvSpPr>
        <p:spPr>
          <a:xfrm>
            <a:off x="3401650" y="3490500"/>
            <a:ext cx="26700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rgbClr val="5B6B7F"/>
                </a:solidFill>
              </a:rPr>
              <a:t>Tela de visão aprofundada do paciente, exibindo o score atribuído e a sinalização de eventuais bloqueios clínicos com suas respectivas justificativas. A página contempla o monitoramento de sinais vitais com alertas visuais por cores (conforme o nível de gravidade), além do registro de comorbidades e do uso de dispositivos invasivos.</a:t>
            </a:r>
            <a:endParaRPr sz="800">
              <a:solidFill>
                <a:srgbClr val="5B6B7F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5B6B7F"/>
              </a:buClr>
              <a:buSzPts val="820"/>
              <a:buFont typeface="Calibri"/>
              <a:buNone/>
            </a:pPr>
            <a:r>
              <a:t/>
            </a:r>
            <a:endParaRPr sz="8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fa7ef08543_2_140"/>
          <p:cNvSpPr/>
          <p:nvPr/>
        </p:nvSpPr>
        <p:spPr>
          <a:xfrm>
            <a:off x="6071625" y="1828800"/>
            <a:ext cx="2624400" cy="29430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a7ef08543_2_140"/>
          <p:cNvSpPr txBox="1"/>
          <p:nvPr/>
        </p:nvSpPr>
        <p:spPr>
          <a:xfrm>
            <a:off x="6208951" y="3404515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Validação Médica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g3fa7ef08543_2_140"/>
          <p:cNvSpPr txBox="1"/>
          <p:nvPr/>
        </p:nvSpPr>
        <p:spPr>
          <a:xfrm>
            <a:off x="6208950" y="3683075"/>
            <a:ext cx="22749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820"/>
              <a:buFont typeface="Calibri"/>
              <a:buNone/>
            </a:pPr>
            <a:r>
              <a:rPr lang="en-US" sz="11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Após revisar as informações do paciente, o médico será direcionado a esta página para confirmar, ajustar ou contestar a sugestão da IA antes de enviar o encaminhamento ao SIRESP.</a:t>
            </a:r>
            <a:endParaRPr i="0" sz="11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fa7ef08543_2_140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g3fa7ef08543_2_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fa7ef08543_2_140" title="Captura de Tela 2026-09-13 às 20.46.1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8950" y="1972300"/>
            <a:ext cx="2367124" cy="136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fa7ef08543_2_140" title="WhatsApp Image 2026-09-13 at 21.04.09.jpe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4350" y="1972300"/>
            <a:ext cx="2349901" cy="11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fa7ef08543_2_140" title="WhatsApp Image 2026-09-13 at 21.08.39.jpe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01650" y="1972300"/>
            <a:ext cx="2349901" cy="12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aac79f395_1_109"/>
          <p:cNvSpPr txBox="1"/>
          <p:nvPr/>
        </p:nvSpPr>
        <p:spPr>
          <a:xfrm>
            <a:off x="457200" y="42255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Demonstração da Solução Funcionando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faac79f395_1_109"/>
          <p:cNvSpPr/>
          <p:nvPr/>
        </p:nvSpPr>
        <p:spPr>
          <a:xfrm>
            <a:off x="782775" y="1229650"/>
            <a:ext cx="3211500" cy="31485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faac79f395_1_109"/>
          <p:cNvSpPr txBox="1"/>
          <p:nvPr/>
        </p:nvSpPr>
        <p:spPr>
          <a:xfrm>
            <a:off x="1004025" y="2881582"/>
            <a:ext cx="23499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Consulta Inteligente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t/>
            </a:r>
            <a:endParaRPr b="1" sz="105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aac79f395_1_109"/>
          <p:cNvSpPr txBox="1"/>
          <p:nvPr/>
        </p:nvSpPr>
        <p:spPr>
          <a:xfrm>
            <a:off x="1004025" y="3122195"/>
            <a:ext cx="31704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Tela de atendimento inteligente via Select AI, projetada para responder rapidamente a perguntas sobre o contexto hospitalar. Além de consultas diretas sobre a instituição, a plataforma oferece um espaço de conversa com a IA para esclarecer dúvidas gerais e abordar diversos temas de suporte.</a:t>
            </a:r>
            <a:endParaRPr sz="10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aac79f395_1_109"/>
          <p:cNvSpPr/>
          <p:nvPr/>
        </p:nvSpPr>
        <p:spPr>
          <a:xfrm>
            <a:off x="4577175" y="1249750"/>
            <a:ext cx="3211500" cy="31083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faac79f395_1_109"/>
          <p:cNvSpPr txBox="1"/>
          <p:nvPr/>
        </p:nvSpPr>
        <p:spPr>
          <a:xfrm>
            <a:off x="4811068" y="2776782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Auditoria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aac79f395_1_109"/>
          <p:cNvSpPr txBox="1"/>
          <p:nvPr/>
        </p:nvSpPr>
        <p:spPr>
          <a:xfrm>
            <a:off x="4811075" y="3082779"/>
            <a:ext cx="29283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Tela de consolidação do atendimento onde é registrado o prontuário do paciente após a conduta médica. A página armazena a sugestão do Datacross, a decisão tomada pelo profissional e a sua devida justificativa, removendo automaticamente o paciente da lista de triagem.</a:t>
            </a:r>
            <a:endParaRPr sz="10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5B6B7F"/>
              </a:buClr>
              <a:buSzPts val="820"/>
              <a:buFont typeface="Calibri"/>
              <a:buNone/>
            </a:pPr>
            <a:r>
              <a:t/>
            </a:r>
            <a:endParaRPr sz="10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g3faac79f395_1_109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0" name="Google Shape;430;g3faac79f395_1_109" title="Captura de Tela 2026-09-12 às 18.05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250" y="1402875"/>
            <a:ext cx="2928251" cy="12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g3faac79f395_1_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g3faac79f395_1_109" title="Captura de Tela 2026-09-13 às 20.19.4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1350" y="1402875"/>
            <a:ext cx="2903148" cy="12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b3a4baa8f_0_8"/>
          <p:cNvSpPr txBox="1"/>
          <p:nvPr/>
        </p:nvSpPr>
        <p:spPr>
          <a:xfrm>
            <a:off x="457200" y="42255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Demonstração da Solução Funcionando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fb3a4baa8f_0_8"/>
          <p:cNvSpPr/>
          <p:nvPr/>
        </p:nvSpPr>
        <p:spPr>
          <a:xfrm>
            <a:off x="726450" y="1217500"/>
            <a:ext cx="2977200" cy="28293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fb3a4baa8f_0_8"/>
          <p:cNvSpPr txBox="1"/>
          <p:nvPr/>
        </p:nvSpPr>
        <p:spPr>
          <a:xfrm>
            <a:off x="894825" y="2866910"/>
            <a:ext cx="23499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0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t/>
            </a:r>
            <a:endParaRPr b="1" sz="1050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fb3a4baa8f_0_8"/>
          <p:cNvSpPr txBox="1"/>
          <p:nvPr/>
        </p:nvSpPr>
        <p:spPr>
          <a:xfrm>
            <a:off x="908250" y="3041650"/>
            <a:ext cx="2613600" cy="9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82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Painel analítico com a distribuição percentual das patologias e o perfil demográfico dos pacientes internados (distribuição por sexo e faixas etárias). Apresenta indicadores de tempo médio de permanência em dias e permite a comparação da taxa de ocupação entre as diferentes unidades hospitalares.</a:t>
            </a:r>
            <a:endParaRPr i="0" sz="9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fb3a4baa8f_0_8"/>
          <p:cNvSpPr/>
          <p:nvPr/>
        </p:nvSpPr>
        <p:spPr>
          <a:xfrm>
            <a:off x="4709399" y="1229650"/>
            <a:ext cx="2977200" cy="2805000"/>
          </a:xfrm>
          <a:prstGeom prst="roundRect">
            <a:avLst>
              <a:gd fmla="val 2182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b3a4baa8f_0_8"/>
          <p:cNvSpPr txBox="1"/>
          <p:nvPr/>
        </p:nvSpPr>
        <p:spPr>
          <a:xfrm>
            <a:off x="4884318" y="2891678"/>
            <a:ext cx="2349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1" lang="en-US" sz="11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Novo</a:t>
            </a: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 Prontuário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g3fb3a4baa8f_0_8"/>
          <p:cNvSpPr txBox="1"/>
          <p:nvPr/>
        </p:nvSpPr>
        <p:spPr>
          <a:xfrm>
            <a:off x="4884375" y="3181375"/>
            <a:ext cx="25971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820"/>
              <a:buFont typeface="Calibri"/>
              <a:buNone/>
            </a:pPr>
            <a:r>
              <a:rPr lang="en-US" sz="10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Tela para cadastro de novos prontuários. Após o cadastramento, os registros entram automaticamente na fila de triagem para cálculo do score.</a:t>
            </a:r>
            <a:endParaRPr i="0" sz="1000" u="none" cap="none" strike="noStrike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3fb3a4baa8f_0_8"/>
          <p:cNvSpPr txBox="1"/>
          <p:nvPr/>
        </p:nvSpPr>
        <p:spPr>
          <a:xfrm>
            <a:off x="513550" y="433893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80"/>
              <a:buFont typeface="Calibri"/>
              <a:buNone/>
            </a:pPr>
            <a:r>
              <a:rPr b="1" i="0" lang="en-US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Uso real: </a:t>
            </a:r>
            <a:r>
              <a:rPr b="0" i="0" lang="en-US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reguladores da CROSS acessam o portal diariamente, priorizam os prontuários com maior score e registram a decisão clínica final</a:t>
            </a:r>
            <a:r>
              <a:rPr lang="en-US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 validação humana é obrigatória antes de qualquer movimentação de leito.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fb3a4baa8f_0_8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7" name="Google Shape;447;g3fb3a4baa8f_0_8" title="Captura de Tela 2026-09-12 às 18.10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325" y="1402875"/>
            <a:ext cx="2642202" cy="141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fb3a4baa8f_0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5775" y="382850"/>
            <a:ext cx="1173600" cy="45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fb3a4baa8f_0_8" title="Captura de Tela 2026-09-13 às 20.18.2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3950" y="1372851"/>
            <a:ext cx="2642202" cy="1363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.png" id="455" name="Google Shape;455;g3fa7ef08543_2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1554480" cy="382933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fa7ef08543_2_166"/>
          <p:cNvSpPr txBox="1"/>
          <p:nvPr/>
        </p:nvSpPr>
        <p:spPr>
          <a:xfrm>
            <a:off x="457200" y="1195865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pace Grotes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Vídeo Pitch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a7ef08543_2_166"/>
          <p:cNvSpPr txBox="1"/>
          <p:nvPr/>
        </p:nvSpPr>
        <p:spPr>
          <a:xfrm>
            <a:off x="457200" y="2043125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C0D6"/>
              </a:buClr>
              <a:buSzPts val="1250"/>
              <a:buFont typeface="Calibri"/>
              <a:buNone/>
            </a:pPr>
            <a:r>
              <a:rPr b="0" i="0" lang="en-US" sz="1300" u="none" cap="none" strike="noStrike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Vídeo demonstrando</a:t>
            </a:r>
            <a:r>
              <a:rPr lang="en-US" sz="13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o fluxo completo do DataCross</a:t>
            </a:r>
            <a:r>
              <a:rPr lang="en-US" sz="13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300" u="none" cap="none" strike="noStrike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da</a:t>
            </a:r>
            <a:r>
              <a:rPr lang="en-US" sz="13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lang="en-US" sz="13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dos prontuários à validação médica.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a7ef08543_2_166"/>
          <p:cNvSpPr/>
          <p:nvPr/>
        </p:nvSpPr>
        <p:spPr>
          <a:xfrm>
            <a:off x="457200" y="2905400"/>
            <a:ext cx="5669400" cy="567000"/>
          </a:xfrm>
          <a:prstGeom prst="roundRect">
            <a:avLst>
              <a:gd fmla="val 50000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a7ef08543_2_166">
            <a:hlinkClick r:id="rId4"/>
          </p:cNvPr>
          <p:cNvSpPr txBox="1"/>
          <p:nvPr/>
        </p:nvSpPr>
        <p:spPr>
          <a:xfrm>
            <a:off x="708650" y="2905400"/>
            <a:ext cx="4671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Clique aqui para acessar o PITCH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a7ef08543_2_166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logo.png" id="466" name="Google Shape;466;g3faac79f395_1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"/>
            <a:ext cx="1554480" cy="382933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faac79f395_1_63"/>
          <p:cNvSpPr txBox="1"/>
          <p:nvPr/>
        </p:nvSpPr>
        <p:spPr>
          <a:xfrm>
            <a:off x="457200" y="1195865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Github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aac79f395_1_63"/>
          <p:cNvSpPr txBox="1"/>
          <p:nvPr/>
        </p:nvSpPr>
        <p:spPr>
          <a:xfrm>
            <a:off x="457200" y="20375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FC0D6"/>
              </a:buClr>
              <a:buSzPts val="1250"/>
              <a:buFont typeface="Calibri"/>
              <a:buNone/>
            </a:pPr>
            <a:r>
              <a:rPr lang="en-US" sz="1300">
                <a:solidFill>
                  <a:srgbClr val="AFC0D6"/>
                </a:solidFill>
                <a:latin typeface="Calibri"/>
                <a:ea typeface="Calibri"/>
                <a:cs typeface="Calibri"/>
                <a:sym typeface="Calibri"/>
              </a:rPr>
              <a:t> Utilize </a:t>
            </a:r>
            <a:r>
              <a:rPr lang="en-US" sz="1200">
                <a:solidFill>
                  <a:srgbClr val="AFC0D6"/>
                </a:solidFill>
              </a:rPr>
              <a:t>o link abaixo para explorar o nosso repositório oficial, onde você encontrará a íntegra dos códigos-fontes e a documentação técnica do projeto.</a:t>
            </a:r>
            <a:endParaRPr sz="1200">
              <a:solidFill>
                <a:srgbClr val="AFC0D6"/>
              </a:solidFill>
            </a:endParaRPr>
          </a:p>
        </p:txBody>
      </p:sp>
      <p:sp>
        <p:nvSpPr>
          <p:cNvPr id="469" name="Google Shape;469;g3faac79f395_1_63"/>
          <p:cNvSpPr/>
          <p:nvPr/>
        </p:nvSpPr>
        <p:spPr>
          <a:xfrm>
            <a:off x="457200" y="2905400"/>
            <a:ext cx="5669400" cy="567000"/>
          </a:xfrm>
          <a:prstGeom prst="roundRect">
            <a:avLst>
              <a:gd fmla="val 50000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faac79f395_1_63"/>
          <p:cNvSpPr txBox="1"/>
          <p:nvPr/>
        </p:nvSpPr>
        <p:spPr>
          <a:xfrm>
            <a:off x="8549640" y="4828032"/>
            <a:ext cx="45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faac79f395_1_63"/>
          <p:cNvSpPr txBox="1"/>
          <p:nvPr/>
        </p:nvSpPr>
        <p:spPr>
          <a:xfrm>
            <a:off x="688600" y="3042350"/>
            <a:ext cx="530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Clique aqui para visualizar os códigos fontes no GitHub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a7ef08543_2_179"/>
          <p:cNvSpPr txBox="1"/>
          <p:nvPr/>
        </p:nvSpPr>
        <p:spPr>
          <a:xfrm>
            <a:off x="457200" y="38722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Space Grotesk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DataCross Conecta Dados e Salva Vidas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a7ef08543_2_179"/>
          <p:cNvSpPr/>
          <p:nvPr/>
        </p:nvSpPr>
        <p:spPr>
          <a:xfrm>
            <a:off x="457200" y="1298448"/>
            <a:ext cx="3931920" cy="1371600"/>
          </a:xfrm>
          <a:prstGeom prst="roundRect">
            <a:avLst>
              <a:gd fmla="val 466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fa7ef08543_2_179"/>
          <p:cNvSpPr/>
          <p:nvPr/>
        </p:nvSpPr>
        <p:spPr>
          <a:xfrm>
            <a:off x="640080" y="1463040"/>
            <a:ext cx="365760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fa7ef08543_2_179"/>
          <p:cNvSpPr txBox="1"/>
          <p:nvPr/>
        </p:nvSpPr>
        <p:spPr>
          <a:xfrm>
            <a:off x="640080" y="15727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Síntese dos resultados obtidos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a7ef08543_2_179"/>
          <p:cNvSpPr txBox="1"/>
          <p:nvPr/>
        </p:nvSpPr>
        <p:spPr>
          <a:xfrm>
            <a:off x="640080" y="1865376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Consolidamos um sistema de suporte à decisão clínica funcional, com protótipo em Oracle APEX, motor de scoring baseado em escalas clínicas reconhecidas e integração conceitual com CROSS/SIRESP para as três patologias priorizadas (AVC, ITU e pneumonia).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a7ef08543_2_179"/>
          <p:cNvSpPr/>
          <p:nvPr/>
        </p:nvSpPr>
        <p:spPr>
          <a:xfrm>
            <a:off x="4663440" y="1298448"/>
            <a:ext cx="3931920" cy="1371600"/>
          </a:xfrm>
          <a:prstGeom prst="roundRect">
            <a:avLst>
              <a:gd fmla="val 466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fa7ef08543_2_179"/>
          <p:cNvSpPr/>
          <p:nvPr/>
        </p:nvSpPr>
        <p:spPr>
          <a:xfrm>
            <a:off x="4846320" y="1463040"/>
            <a:ext cx="365760" cy="54864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fa7ef08543_2_179"/>
          <p:cNvSpPr txBox="1"/>
          <p:nvPr/>
        </p:nvSpPr>
        <p:spPr>
          <a:xfrm>
            <a:off x="4846320" y="15727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Aprendizados-chave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a7ef08543_2_179"/>
          <p:cNvSpPr txBox="1"/>
          <p:nvPr/>
        </p:nvSpPr>
        <p:spPr>
          <a:xfrm>
            <a:off x="4846320" y="1865376"/>
            <a:ext cx="35661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20"/>
              <a:buFont typeface="Calibri"/>
              <a:buNone/>
            </a:pPr>
            <a:r>
              <a:rPr b="0" i="0" lang="en-US" sz="92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 validação humana obrigatória é o que torna a IA aceitável em um fluxo clínico real, e um motor de scoring auditáve</a:t>
            </a:r>
            <a:r>
              <a:rPr lang="en-US" sz="92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920" u="none" cap="none" strike="noStrike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 é essencial para conquistar a confiança do médico regulador.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a7ef08543_2_179"/>
          <p:cNvSpPr/>
          <p:nvPr/>
        </p:nvSpPr>
        <p:spPr>
          <a:xfrm>
            <a:off x="457200" y="2834650"/>
            <a:ext cx="3931800" cy="1638300"/>
          </a:xfrm>
          <a:prstGeom prst="roundRect">
            <a:avLst>
              <a:gd fmla="val 466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a7ef08543_2_179"/>
          <p:cNvSpPr/>
          <p:nvPr/>
        </p:nvSpPr>
        <p:spPr>
          <a:xfrm>
            <a:off x="640117" y="2999220"/>
            <a:ext cx="365700" cy="5490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fa7ef08543_2_179"/>
          <p:cNvSpPr txBox="1"/>
          <p:nvPr/>
        </p:nvSpPr>
        <p:spPr>
          <a:xfrm>
            <a:off x="640067" y="310901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Limitações enfrentadas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a7ef08543_2_179"/>
          <p:cNvSpPr txBox="1"/>
          <p:nvPr/>
        </p:nvSpPr>
        <p:spPr>
          <a:xfrm>
            <a:off x="640075" y="3438125"/>
            <a:ext cx="350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Devido às restrições de privacidade e à sensibilidade dos dados, o fluxo foi validado utilizando um conjunto com base nos dados históricos do SUS, em vez do acesso direto aos sistemas hospitalares (HIS/PEP). </a:t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Os testes de integração com o SIRESP não puderam ser homologados nesta etapa, pois dependem da implantação do sistema em ambiente hospitalar produtivo.</a:t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a7ef08543_2_179"/>
          <p:cNvSpPr/>
          <p:nvPr/>
        </p:nvSpPr>
        <p:spPr>
          <a:xfrm>
            <a:off x="4663450" y="2834650"/>
            <a:ext cx="3931800" cy="1638300"/>
          </a:xfrm>
          <a:prstGeom prst="roundRect">
            <a:avLst>
              <a:gd fmla="val 466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a7ef08543_2_179"/>
          <p:cNvSpPr/>
          <p:nvPr/>
        </p:nvSpPr>
        <p:spPr>
          <a:xfrm>
            <a:off x="4846320" y="3003429"/>
            <a:ext cx="365700" cy="54900"/>
          </a:xfrm>
          <a:prstGeom prst="roundRect">
            <a:avLst>
              <a:gd fmla="val 16667" name="adj"/>
            </a:avLst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fa7ef08543_2_179"/>
          <p:cNvSpPr txBox="1"/>
          <p:nvPr/>
        </p:nvSpPr>
        <p:spPr>
          <a:xfrm>
            <a:off x="4846295" y="3103386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5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Próximos passos e evoluções possíveis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a7ef08543_2_179"/>
          <p:cNvSpPr txBox="1"/>
          <p:nvPr/>
        </p:nvSpPr>
        <p:spPr>
          <a:xfrm>
            <a:off x="4846325" y="3426848"/>
            <a:ext cx="3992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3810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Para as próximas fases de evolução do projeto, prevemos a transição para a integração em tempo real via padrão FHIR e o desenvolvimento da conexão via API com o CROSS/SIRESP.</a:t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Adicionalmente, pretendemos expandir os estudos para outras patologias que geram ocupações evitáveis de leitos, otimizando a eficiência da gestão hospitalar.</a:t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20"/>
              <a:buFont typeface="Calibri"/>
              <a:buNone/>
            </a:pPr>
            <a:r>
              <a:t/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20"/>
              <a:buFont typeface="Calibri"/>
              <a:buNone/>
            </a:pPr>
            <a:r>
              <a:t/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a7ef08543_2_179"/>
          <p:cNvSpPr txBox="1"/>
          <p:nvPr/>
        </p:nvSpPr>
        <p:spPr>
          <a:xfrm>
            <a:off x="423400" y="4637545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Agradecemos à equipe da Oracle e aos professores da FIAP pelo suporte técnico e estratégico.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a7ef08543_2_179"/>
          <p:cNvSpPr txBox="1"/>
          <p:nvPr/>
        </p:nvSpPr>
        <p:spPr>
          <a:xfrm>
            <a:off x="8549640" y="482803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B6B7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>
              <a:solidFill>
                <a:srgbClr val="5B6B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6" name="Google Shape;496;g3fa7ef08543_2_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6050" y="404400"/>
            <a:ext cx="1173600" cy="4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2026-04-14T14:06:36Z</dcterms:created>
  <dc:creator>PptxGenJS</dc:creator>
</cp:coreProperties>
</file>